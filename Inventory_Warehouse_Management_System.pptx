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D3D"/>
        </a:solidFill>
      </p:bgPr>
    </p:bg>
    <p:spTree>
      <p:nvGrpSpPr>
        <p:cNvPr id="1" name=""/>
        <p:cNvGrpSpPr/>
        <p:nvPr/>
      </p:nvGrpSpPr>
      <p:grpSpPr>
        <a:xfrm>
          <a:off x="0" y="0"/>
          <a:ext cx="0" cy="0"/>
          <a:chOff x="0" y="0"/>
          <a:chExt cx="0" cy="0"/>
        </a:xfrm>
      </p:grpSpPr>
      <p:sp>
        <p:nvSpPr>
          <p:cNvPr id="2" name="Shape 0"/>
          <p:cNvSpPr/>
          <p:nvPr/>
        </p:nvSpPr>
        <p:spPr>
          <a:xfrm>
            <a:off x="9692640" y="4937760"/>
            <a:ext cx="914400" cy="914400"/>
          </a:xfrm>
          <a:prstGeom prst="rect">
            <a:avLst/>
          </a:prstGeom>
          <a:solidFill>
            <a:srgbClr val="E37B27">
              <a:alpha val="22000"/>
            </a:srgbClr>
          </a:solidFill>
          <a:ln w="19050">
            <a:solidFill>
              <a:srgbClr val="E37B27"/>
            </a:solidFill>
            <a:prstDash val="solid"/>
          </a:ln>
        </p:spPr>
      </p:sp>
      <p:sp>
        <p:nvSpPr>
          <p:cNvPr id="3" name="Shape 1"/>
          <p:cNvSpPr/>
          <p:nvPr/>
        </p:nvSpPr>
        <p:spPr>
          <a:xfrm>
            <a:off x="10652760" y="4937760"/>
            <a:ext cx="914400" cy="914400"/>
          </a:xfrm>
          <a:prstGeom prst="rect">
            <a:avLst/>
          </a:prstGeom>
          <a:solidFill>
            <a:srgbClr val="E37B27">
              <a:alpha val="22000"/>
            </a:srgbClr>
          </a:solidFill>
          <a:ln w="19050">
            <a:solidFill>
              <a:srgbClr val="E37B27"/>
            </a:solidFill>
            <a:prstDash val="solid"/>
          </a:ln>
        </p:spPr>
      </p:sp>
      <p:sp>
        <p:nvSpPr>
          <p:cNvPr id="4" name="Shape 2"/>
          <p:cNvSpPr/>
          <p:nvPr/>
        </p:nvSpPr>
        <p:spPr>
          <a:xfrm>
            <a:off x="10149840" y="3977640"/>
            <a:ext cx="914400" cy="914400"/>
          </a:xfrm>
          <a:prstGeom prst="rect">
            <a:avLst/>
          </a:prstGeom>
          <a:solidFill>
            <a:srgbClr val="E37B27">
              <a:alpha val="22000"/>
            </a:srgbClr>
          </a:solidFill>
          <a:ln w="19050">
            <a:solidFill>
              <a:srgbClr val="E37B27"/>
            </a:solidFill>
            <a:prstDash val="solid"/>
          </a:ln>
        </p:spPr>
      </p:sp>
      <p:sp>
        <p:nvSpPr>
          <p:cNvPr id="5" name="Text 3"/>
          <p:cNvSpPr/>
          <p:nvPr/>
        </p:nvSpPr>
        <p:spPr>
          <a:xfrm>
            <a:off x="640080" y="1371600"/>
            <a:ext cx="9144000" cy="320040"/>
          </a:xfrm>
          <a:prstGeom prst="rect">
            <a:avLst/>
          </a:prstGeom>
          <a:noFill/>
          <a:ln/>
        </p:spPr>
        <p:txBody>
          <a:bodyPr wrap="square" lIns="0" tIns="0" rIns="0" bIns="0" rtlCol="0" anchor="ctr"/>
          <a:lstStyle/>
          <a:p>
            <a:pPr indent="0" marL="0">
              <a:buNone/>
            </a:pPr>
            <a:r>
              <a:rPr lang="en-US" sz="1300" b="1" spc="200" kern="0" dirty="0">
                <a:solidFill>
                  <a:srgbClr val="E37B27"/>
                </a:solidFill>
                <a:latin typeface="Calibri" pitchFamily="34" charset="0"/>
                <a:ea typeface="Calibri" pitchFamily="34" charset="-122"/>
                <a:cs typeface="Calibri" pitchFamily="34" charset="-120"/>
              </a:rPr>
              <a:t>DATABASE MANAGEMENT SYSTEM  |  MINI PROJECT</a:t>
            </a:r>
            <a:endParaRPr lang="en-US" sz="1300" dirty="0"/>
          </a:p>
        </p:txBody>
      </p:sp>
      <p:sp>
        <p:nvSpPr>
          <p:cNvPr id="6" name="Text 4"/>
          <p:cNvSpPr/>
          <p:nvPr/>
        </p:nvSpPr>
        <p:spPr>
          <a:xfrm>
            <a:off x="640080" y="1737360"/>
            <a:ext cx="960120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Inventory &amp; Warehouse</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Management System</a:t>
            </a:r>
            <a:endParaRPr lang="en-US" sz="4400" dirty="0"/>
          </a:p>
        </p:txBody>
      </p:sp>
      <p:sp>
        <p:nvSpPr>
          <p:cNvPr id="7" name="Text 5"/>
          <p:cNvSpPr/>
          <p:nvPr/>
        </p:nvSpPr>
        <p:spPr>
          <a:xfrm>
            <a:off x="658368" y="3520440"/>
            <a:ext cx="7955280" cy="548640"/>
          </a:xfrm>
          <a:prstGeom prst="rect">
            <a:avLst/>
          </a:prstGeom>
          <a:noFill/>
          <a:ln/>
        </p:spPr>
        <p:txBody>
          <a:bodyPr wrap="square" lIns="0" tIns="0" rIns="0" bIns="0" rtlCol="0" anchor="ctr"/>
          <a:lstStyle/>
          <a:p>
            <a:pPr indent="0" marL="0">
              <a:buNone/>
            </a:pPr>
            <a:r>
              <a:rPr lang="en-US" sz="1400" i="1" dirty="0">
                <a:solidFill>
                  <a:srgbClr val="C9D2DC"/>
                </a:solidFill>
                <a:latin typeface="Calibri" pitchFamily="34" charset="0"/>
                <a:ea typeface="Calibri" pitchFamily="34" charset="-122"/>
                <a:cs typeface="Calibri" pitchFamily="34" charset="-120"/>
              </a:rPr>
              <a:t>A relational database solution to track stock, suppliers and orders across a warehouse in real time.</a:t>
            </a:r>
            <a:endParaRPr lang="en-US" sz="1400" dirty="0"/>
          </a:p>
        </p:txBody>
      </p:sp>
      <p:sp>
        <p:nvSpPr>
          <p:cNvPr id="8" name="Shape 6"/>
          <p:cNvSpPr/>
          <p:nvPr/>
        </p:nvSpPr>
        <p:spPr>
          <a:xfrm>
            <a:off x="658368" y="4251960"/>
            <a:ext cx="2926080" cy="0"/>
          </a:xfrm>
          <a:prstGeom prst="line">
            <a:avLst/>
          </a:prstGeom>
          <a:noFill/>
          <a:ln w="25400">
            <a:solidFill>
              <a:srgbClr val="E37B27"/>
            </a:solidFill>
            <a:prstDash val="solid"/>
          </a:ln>
        </p:spPr>
      </p:sp>
      <p:sp>
        <p:nvSpPr>
          <p:cNvPr id="9" name="Text 7"/>
          <p:cNvSpPr/>
          <p:nvPr/>
        </p:nvSpPr>
        <p:spPr>
          <a:xfrm>
            <a:off x="658368" y="4526280"/>
            <a:ext cx="32918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Varalakshmi K</a:t>
            </a:r>
            <a:endParaRPr lang="en-US" sz="1400" dirty="0"/>
          </a:p>
        </p:txBody>
      </p:sp>
      <p:sp>
        <p:nvSpPr>
          <p:cNvPr id="10" name="Text 8"/>
          <p:cNvSpPr/>
          <p:nvPr/>
        </p:nvSpPr>
        <p:spPr>
          <a:xfrm>
            <a:off x="658368" y="4782312"/>
            <a:ext cx="3291840" cy="256032"/>
          </a:xfrm>
          <a:prstGeom prst="rect">
            <a:avLst/>
          </a:prstGeom>
          <a:noFill/>
          <a:ln/>
        </p:spPr>
        <p:txBody>
          <a:bodyPr wrap="square" lIns="0" tIns="0" rIns="0" bIns="0" rtlCol="0" anchor="ctr"/>
          <a:lstStyle/>
          <a:p>
            <a:pPr indent="0" marL="0">
              <a:buNone/>
            </a:pPr>
            <a:r>
              <a:rPr lang="en-US" sz="1100" dirty="0">
                <a:solidFill>
                  <a:srgbClr val="9FB0C1"/>
                </a:solidFill>
                <a:latin typeface="Calibri" pitchFamily="34" charset="0"/>
                <a:ea typeface="Calibri" pitchFamily="34" charset="-122"/>
                <a:cs typeface="Calibri" pitchFamily="34" charset="-120"/>
              </a:rPr>
              <a:t>2520030578</a:t>
            </a:r>
            <a:endParaRPr lang="en-US" sz="1100" dirty="0"/>
          </a:p>
        </p:txBody>
      </p:sp>
      <p:sp>
        <p:nvSpPr>
          <p:cNvPr id="11" name="Text 9"/>
          <p:cNvSpPr/>
          <p:nvPr/>
        </p:nvSpPr>
        <p:spPr>
          <a:xfrm>
            <a:off x="658368" y="5148072"/>
            <a:ext cx="32918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Himesh A</a:t>
            </a:r>
            <a:endParaRPr lang="en-US" sz="1400" dirty="0"/>
          </a:p>
        </p:txBody>
      </p:sp>
      <p:sp>
        <p:nvSpPr>
          <p:cNvPr id="12" name="Text 10"/>
          <p:cNvSpPr/>
          <p:nvPr/>
        </p:nvSpPr>
        <p:spPr>
          <a:xfrm>
            <a:off x="658368" y="5404104"/>
            <a:ext cx="3291840" cy="256032"/>
          </a:xfrm>
          <a:prstGeom prst="rect">
            <a:avLst/>
          </a:prstGeom>
          <a:noFill/>
          <a:ln/>
        </p:spPr>
        <p:txBody>
          <a:bodyPr wrap="square" lIns="0" tIns="0" rIns="0" bIns="0" rtlCol="0" anchor="ctr"/>
          <a:lstStyle/>
          <a:p>
            <a:pPr indent="0" marL="0">
              <a:buNone/>
            </a:pPr>
            <a:r>
              <a:rPr lang="en-US" sz="1100" dirty="0">
                <a:solidFill>
                  <a:srgbClr val="9FB0C1"/>
                </a:solidFill>
                <a:latin typeface="Calibri" pitchFamily="34" charset="0"/>
                <a:ea typeface="Calibri" pitchFamily="34" charset="-122"/>
                <a:cs typeface="Calibri" pitchFamily="34" charset="-120"/>
              </a:rPr>
              <a:t>2520030317</a:t>
            </a:r>
            <a:endParaRPr lang="en-US" sz="1100" dirty="0"/>
          </a:p>
        </p:txBody>
      </p:sp>
      <p:sp>
        <p:nvSpPr>
          <p:cNvPr id="13" name="Text 11"/>
          <p:cNvSpPr/>
          <p:nvPr/>
        </p:nvSpPr>
        <p:spPr>
          <a:xfrm>
            <a:off x="658368" y="5769864"/>
            <a:ext cx="32918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Ishwak</a:t>
            </a:r>
            <a:endParaRPr lang="en-US" sz="1400" dirty="0"/>
          </a:p>
        </p:txBody>
      </p:sp>
      <p:sp>
        <p:nvSpPr>
          <p:cNvPr id="14" name="Text 12"/>
          <p:cNvSpPr/>
          <p:nvPr/>
        </p:nvSpPr>
        <p:spPr>
          <a:xfrm>
            <a:off x="658368" y="6025896"/>
            <a:ext cx="3291840" cy="256032"/>
          </a:xfrm>
          <a:prstGeom prst="rect">
            <a:avLst/>
          </a:prstGeom>
          <a:noFill/>
          <a:ln/>
        </p:spPr>
        <p:txBody>
          <a:bodyPr wrap="square" lIns="0" tIns="0" rIns="0" bIns="0" rtlCol="0" anchor="ctr"/>
          <a:lstStyle/>
          <a:p>
            <a:pPr indent="0" marL="0">
              <a:buNone/>
            </a:pPr>
            <a:r>
              <a:rPr lang="en-US" sz="1100" dirty="0">
                <a:solidFill>
                  <a:srgbClr val="9FB0C1"/>
                </a:solidFill>
                <a:latin typeface="Calibri" pitchFamily="34" charset="0"/>
                <a:ea typeface="Calibri" pitchFamily="34" charset="-122"/>
                <a:cs typeface="Calibri" pitchFamily="34" charset="-120"/>
              </a:rPr>
              <a:t>2520030458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E37B27"/>
                </a:solidFill>
                <a:latin typeface="Calibri" pitchFamily="34" charset="0"/>
                <a:ea typeface="Calibri" pitchFamily="34" charset="-122"/>
                <a:cs typeface="Calibri" pitchFamily="34" charset="-120"/>
              </a:rPr>
              <a:t>GETTING STARTED</a:t>
            </a:r>
            <a:endParaRPr lang="en-US" sz="12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indent="0" marL="0">
              <a:buNone/>
            </a:pPr>
            <a:r>
              <a:rPr lang="en-US" sz="3200" b="1" dirty="0">
                <a:solidFill>
                  <a:srgbClr val="1F2D3D"/>
                </a:solidFill>
                <a:latin typeface="Cambria" pitchFamily="34" charset="0"/>
                <a:ea typeface="Cambria" pitchFamily="34" charset="-122"/>
                <a:cs typeface="Cambria" pitchFamily="34" charset="-120"/>
              </a:rPr>
              <a:t>Introduction</a:t>
            </a:r>
            <a:endParaRPr lang="en-US" sz="3200" dirty="0"/>
          </a:p>
        </p:txBody>
      </p:sp>
      <p:sp>
        <p:nvSpPr>
          <p:cNvPr id="4" name="Text 2"/>
          <p:cNvSpPr/>
          <p:nvPr/>
        </p:nvSpPr>
        <p:spPr>
          <a:xfrm>
            <a:off x="548640" y="1508760"/>
            <a:ext cx="6309360" cy="2103120"/>
          </a:xfrm>
          <a:prstGeom prst="rect">
            <a:avLst/>
          </a:prstGeom>
          <a:noFill/>
          <a:ln/>
        </p:spPr>
        <p:txBody>
          <a:bodyPr wrap="square" lIns="0" tIns="0" rIns="0" bIns="0" rtlCol="0" anchor="ctr"/>
          <a:lstStyle/>
          <a:p>
            <a:pPr algn="l" indent="0" marL="0">
              <a:lnSpc>
                <a:spcPct val="128000"/>
              </a:lnSpc>
              <a:buNone/>
            </a:pPr>
            <a:r>
              <a:rPr lang="en-US" sz="1450" dirty="0">
                <a:solidFill>
                  <a:srgbClr val="2C3E50"/>
                </a:solidFill>
                <a:latin typeface="Calibri" pitchFamily="34" charset="0"/>
                <a:ea typeface="Calibri" pitchFamily="34" charset="-122"/>
                <a:cs typeface="Calibri" pitchFamily="34" charset="-120"/>
              </a:rPr>
              <a:t>Every warehouse deals with hundreds of products moving in and out every day. Keeping track of this on paper or in scattered Excel sheets quickly becomes messy and unreliable. Our project builds a database-driven system that stores all warehouse information in one organised place, so that stock levels, supplier details and orders can be tracked accurately and updated instantly.</a:t>
            </a:r>
            <a:endParaRPr lang="en-US" sz="1450" dirty="0"/>
          </a:p>
        </p:txBody>
      </p:sp>
      <p:sp>
        <p:nvSpPr>
          <p:cNvPr id="5" name="Text 3"/>
          <p:cNvSpPr/>
          <p:nvPr/>
        </p:nvSpPr>
        <p:spPr>
          <a:xfrm>
            <a:off x="548640" y="3794760"/>
            <a:ext cx="6309360" cy="1371600"/>
          </a:xfrm>
          <a:prstGeom prst="rect">
            <a:avLst/>
          </a:prstGeom>
          <a:noFill/>
          <a:ln/>
        </p:spPr>
        <p:txBody>
          <a:bodyPr wrap="square" lIns="0" tIns="0" rIns="0" bIns="0" rtlCol="0" anchor="ctr"/>
          <a:lstStyle/>
          <a:p>
            <a:pPr indent="0" marL="0">
              <a:lnSpc>
                <a:spcPct val="128000"/>
              </a:lnSpc>
              <a:buNone/>
            </a:pPr>
            <a:r>
              <a:rPr lang="en-US" sz="1450" dirty="0">
                <a:solidFill>
                  <a:srgbClr val="2C3E50"/>
                </a:solidFill>
                <a:latin typeface="Calibri" pitchFamily="34" charset="0"/>
                <a:ea typeface="Calibri" pitchFamily="34" charset="-122"/>
                <a:cs typeface="Calibri" pitchFamily="34" charset="-120"/>
              </a:rPr>
              <a:t>We designed this system using core DBMS concepts learnt in class — ER modelling, normalization, relational tables, keys and SQL queries — and applied them to a real, everyday problem that any retail or manufacturing business faces.</a:t>
            </a:r>
            <a:endParaRPr lang="en-US" sz="1450" dirty="0"/>
          </a:p>
        </p:txBody>
      </p:sp>
      <p:sp>
        <p:nvSpPr>
          <p:cNvPr id="6" name="Shape 4"/>
          <p:cNvSpPr/>
          <p:nvPr/>
        </p:nvSpPr>
        <p:spPr>
          <a:xfrm>
            <a:off x="7223760" y="1508760"/>
            <a:ext cx="4389120" cy="4434840"/>
          </a:xfrm>
          <a:prstGeom prst="rect">
            <a:avLst/>
          </a:prstGeom>
          <a:solidFill>
            <a:srgbClr val="1F2D3D"/>
          </a:solidFill>
          <a:ln/>
        </p:spPr>
      </p:sp>
      <p:sp>
        <p:nvSpPr>
          <p:cNvPr id="7" name="Text 5"/>
          <p:cNvSpPr/>
          <p:nvPr/>
        </p:nvSpPr>
        <p:spPr>
          <a:xfrm>
            <a:off x="7543800" y="1783080"/>
            <a:ext cx="3749040" cy="274320"/>
          </a:xfrm>
          <a:prstGeom prst="rect">
            <a:avLst/>
          </a:prstGeom>
          <a:noFill/>
          <a:ln/>
        </p:spPr>
        <p:txBody>
          <a:bodyPr wrap="square" lIns="0" tIns="0" rIns="0" bIns="0" rtlCol="0" anchor="ctr"/>
          <a:lstStyle/>
          <a:p>
            <a:pPr indent="0" marL="0">
              <a:buNone/>
            </a:pPr>
            <a:r>
              <a:rPr lang="en-US" sz="1100" b="1" spc="150" kern="0" dirty="0">
                <a:solidFill>
                  <a:srgbClr val="E37B27"/>
                </a:solidFill>
                <a:latin typeface="Calibri" pitchFamily="34" charset="0"/>
                <a:ea typeface="Calibri" pitchFamily="34" charset="-122"/>
                <a:cs typeface="Calibri" pitchFamily="34" charset="-120"/>
              </a:rPr>
              <a:t>WHY A DATABASE?</a:t>
            </a:r>
            <a:endParaRPr lang="en-US" sz="1100" dirty="0"/>
          </a:p>
        </p:txBody>
      </p:sp>
      <p:sp>
        <p:nvSpPr>
          <p:cNvPr id="8" name="Shape 6"/>
          <p:cNvSpPr/>
          <p:nvPr/>
        </p:nvSpPr>
        <p:spPr>
          <a:xfrm>
            <a:off x="7543800" y="2313432"/>
            <a:ext cx="128016" cy="128016"/>
          </a:xfrm>
          <a:prstGeom prst="ellipse">
            <a:avLst/>
          </a:prstGeom>
          <a:solidFill>
            <a:srgbClr val="E37B27"/>
          </a:solidFill>
          <a:ln/>
        </p:spPr>
      </p:sp>
      <p:sp>
        <p:nvSpPr>
          <p:cNvPr id="9" name="Text 7"/>
          <p:cNvSpPr/>
          <p:nvPr/>
        </p:nvSpPr>
        <p:spPr>
          <a:xfrm>
            <a:off x="7818120" y="2212848"/>
            <a:ext cx="347472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more duplicate entries</a:t>
            </a:r>
            <a:endParaRPr lang="en-US" sz="1350" dirty="0"/>
          </a:p>
        </p:txBody>
      </p:sp>
      <p:sp>
        <p:nvSpPr>
          <p:cNvPr id="10" name="Text 8"/>
          <p:cNvSpPr/>
          <p:nvPr/>
        </p:nvSpPr>
        <p:spPr>
          <a:xfrm>
            <a:off x="7818120" y="2487168"/>
            <a:ext cx="3474720" cy="502920"/>
          </a:xfrm>
          <a:prstGeom prst="rect">
            <a:avLst/>
          </a:prstGeom>
          <a:noFill/>
          <a:ln/>
        </p:spPr>
        <p:txBody>
          <a:bodyPr wrap="square" lIns="0" tIns="0" rIns="0" bIns="0" rtlCol="0" anchor="ctr"/>
          <a:lstStyle/>
          <a:p>
            <a:pPr indent="0" marL="0">
              <a:lnSpc>
                <a:spcPct val="115000"/>
              </a:lnSpc>
              <a:buNone/>
            </a:pPr>
            <a:r>
              <a:rPr lang="en-US" sz="1150" dirty="0">
                <a:solidFill>
                  <a:srgbClr val="AEB9C4"/>
                </a:solidFill>
                <a:latin typeface="Calibri" pitchFamily="34" charset="0"/>
                <a:ea typeface="Calibri" pitchFamily="34" charset="-122"/>
                <a:cs typeface="Calibri" pitchFamily="34" charset="-120"/>
              </a:rPr>
              <a:t>Data is stored once and linked using keys, not copy-pasted.</a:t>
            </a:r>
            <a:endParaRPr lang="en-US" sz="1150" dirty="0"/>
          </a:p>
        </p:txBody>
      </p:sp>
      <p:sp>
        <p:nvSpPr>
          <p:cNvPr id="11" name="Shape 9"/>
          <p:cNvSpPr/>
          <p:nvPr/>
        </p:nvSpPr>
        <p:spPr>
          <a:xfrm>
            <a:off x="7543800" y="3209544"/>
            <a:ext cx="128016" cy="128016"/>
          </a:xfrm>
          <a:prstGeom prst="ellipse">
            <a:avLst/>
          </a:prstGeom>
          <a:solidFill>
            <a:srgbClr val="E37B27"/>
          </a:solidFill>
          <a:ln/>
        </p:spPr>
      </p:sp>
      <p:sp>
        <p:nvSpPr>
          <p:cNvPr id="12" name="Text 10"/>
          <p:cNvSpPr/>
          <p:nvPr/>
        </p:nvSpPr>
        <p:spPr>
          <a:xfrm>
            <a:off x="7818120" y="3108960"/>
            <a:ext cx="347472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Accurate stock counts</a:t>
            </a:r>
            <a:endParaRPr lang="en-US" sz="1350" dirty="0"/>
          </a:p>
        </p:txBody>
      </p:sp>
      <p:sp>
        <p:nvSpPr>
          <p:cNvPr id="13" name="Text 11"/>
          <p:cNvSpPr/>
          <p:nvPr/>
        </p:nvSpPr>
        <p:spPr>
          <a:xfrm>
            <a:off x="7818120" y="3383280"/>
            <a:ext cx="3474720" cy="502920"/>
          </a:xfrm>
          <a:prstGeom prst="rect">
            <a:avLst/>
          </a:prstGeom>
          <a:noFill/>
          <a:ln/>
        </p:spPr>
        <p:txBody>
          <a:bodyPr wrap="square" lIns="0" tIns="0" rIns="0" bIns="0" rtlCol="0" anchor="ctr"/>
          <a:lstStyle/>
          <a:p>
            <a:pPr indent="0" marL="0">
              <a:lnSpc>
                <a:spcPct val="115000"/>
              </a:lnSpc>
              <a:buNone/>
            </a:pPr>
            <a:r>
              <a:rPr lang="en-US" sz="1150" dirty="0">
                <a:solidFill>
                  <a:srgbClr val="AEB9C4"/>
                </a:solidFill>
                <a:latin typeface="Calibri" pitchFamily="34" charset="0"/>
                <a:ea typeface="Calibri" pitchFamily="34" charset="-122"/>
                <a:cs typeface="Calibri" pitchFamily="34" charset="-120"/>
              </a:rPr>
              <a:t>Every stock-in / stock-out is recorded, so numbers stay correct.</a:t>
            </a:r>
            <a:endParaRPr lang="en-US" sz="1150" dirty="0"/>
          </a:p>
        </p:txBody>
      </p:sp>
      <p:sp>
        <p:nvSpPr>
          <p:cNvPr id="14" name="Shape 12"/>
          <p:cNvSpPr/>
          <p:nvPr/>
        </p:nvSpPr>
        <p:spPr>
          <a:xfrm>
            <a:off x="7543800" y="4105656"/>
            <a:ext cx="128016" cy="128016"/>
          </a:xfrm>
          <a:prstGeom prst="ellipse">
            <a:avLst/>
          </a:prstGeom>
          <a:solidFill>
            <a:srgbClr val="E37B27"/>
          </a:solidFill>
          <a:ln/>
        </p:spPr>
      </p:sp>
      <p:sp>
        <p:nvSpPr>
          <p:cNvPr id="15" name="Text 13"/>
          <p:cNvSpPr/>
          <p:nvPr/>
        </p:nvSpPr>
        <p:spPr>
          <a:xfrm>
            <a:off x="7818120" y="4005072"/>
            <a:ext cx="347472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Fast search &amp; reports</a:t>
            </a:r>
            <a:endParaRPr lang="en-US" sz="1350" dirty="0"/>
          </a:p>
        </p:txBody>
      </p:sp>
      <p:sp>
        <p:nvSpPr>
          <p:cNvPr id="16" name="Text 14"/>
          <p:cNvSpPr/>
          <p:nvPr/>
        </p:nvSpPr>
        <p:spPr>
          <a:xfrm>
            <a:off x="7818120" y="4279392"/>
            <a:ext cx="3474720" cy="502920"/>
          </a:xfrm>
          <a:prstGeom prst="rect">
            <a:avLst/>
          </a:prstGeom>
          <a:noFill/>
          <a:ln/>
        </p:spPr>
        <p:txBody>
          <a:bodyPr wrap="square" lIns="0" tIns="0" rIns="0" bIns="0" rtlCol="0" anchor="ctr"/>
          <a:lstStyle/>
          <a:p>
            <a:pPr indent="0" marL="0">
              <a:lnSpc>
                <a:spcPct val="115000"/>
              </a:lnSpc>
              <a:buNone/>
            </a:pPr>
            <a:r>
              <a:rPr lang="en-US" sz="1150" dirty="0">
                <a:solidFill>
                  <a:srgbClr val="AEB9C4"/>
                </a:solidFill>
                <a:latin typeface="Calibri" pitchFamily="34" charset="0"/>
                <a:ea typeface="Calibri" pitchFamily="34" charset="-122"/>
                <a:cs typeface="Calibri" pitchFamily="34" charset="-120"/>
              </a:rPr>
              <a:t>SQL queries fetch results in seconds, not hours of scrolling.</a:t>
            </a:r>
            <a:endParaRPr lang="en-US" sz="1150" dirty="0"/>
          </a:p>
        </p:txBody>
      </p:sp>
      <p:sp>
        <p:nvSpPr>
          <p:cNvPr id="17" name="Shape 15"/>
          <p:cNvSpPr/>
          <p:nvPr/>
        </p:nvSpPr>
        <p:spPr>
          <a:xfrm>
            <a:off x="7543800" y="5001768"/>
            <a:ext cx="128016" cy="128016"/>
          </a:xfrm>
          <a:prstGeom prst="ellipse">
            <a:avLst/>
          </a:prstGeom>
          <a:solidFill>
            <a:srgbClr val="E37B27"/>
          </a:solidFill>
          <a:ln/>
        </p:spPr>
      </p:sp>
      <p:sp>
        <p:nvSpPr>
          <p:cNvPr id="18" name="Text 16"/>
          <p:cNvSpPr/>
          <p:nvPr/>
        </p:nvSpPr>
        <p:spPr>
          <a:xfrm>
            <a:off x="7818120" y="4901184"/>
            <a:ext cx="347472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Multiple people can use it</a:t>
            </a:r>
            <a:endParaRPr lang="en-US" sz="1350" dirty="0"/>
          </a:p>
        </p:txBody>
      </p:sp>
      <p:sp>
        <p:nvSpPr>
          <p:cNvPr id="19" name="Text 17"/>
          <p:cNvSpPr/>
          <p:nvPr/>
        </p:nvSpPr>
        <p:spPr>
          <a:xfrm>
            <a:off x="7818120" y="5175504"/>
            <a:ext cx="3474720" cy="502920"/>
          </a:xfrm>
          <a:prstGeom prst="rect">
            <a:avLst/>
          </a:prstGeom>
          <a:noFill/>
          <a:ln/>
        </p:spPr>
        <p:txBody>
          <a:bodyPr wrap="square" lIns="0" tIns="0" rIns="0" bIns="0" rtlCol="0" anchor="ctr"/>
          <a:lstStyle/>
          <a:p>
            <a:pPr indent="0" marL="0">
              <a:lnSpc>
                <a:spcPct val="115000"/>
              </a:lnSpc>
              <a:buNone/>
            </a:pPr>
            <a:r>
              <a:rPr lang="en-US" sz="1150" dirty="0">
                <a:solidFill>
                  <a:srgbClr val="AEB9C4"/>
                </a:solidFill>
                <a:latin typeface="Calibri" pitchFamily="34" charset="0"/>
                <a:ea typeface="Calibri" pitchFamily="34" charset="-122"/>
                <a:cs typeface="Calibri" pitchFamily="34" charset="-120"/>
              </a:rPr>
              <a:t>Admin, staff and suppliers all work from the same live data.</a:t>
            </a:r>
            <a:endParaRPr lang="en-US" sz="1150" dirty="0"/>
          </a:p>
        </p:txBody>
      </p:sp>
      <p:sp>
        <p:nvSpPr>
          <p:cNvPr id="20" name="Text 18"/>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684"/>
                </a:solidFill>
                <a:latin typeface="Calibri" pitchFamily="34" charset="0"/>
                <a:ea typeface="Calibri" pitchFamily="34" charset="-122"/>
                <a:cs typeface="Calibri" pitchFamily="34" charset="-120"/>
              </a:rPr>
              <a:t>Inventory &amp; Warehouse Management System</a:t>
            </a:r>
            <a:endParaRPr lang="en-US" sz="900" dirty="0"/>
          </a:p>
        </p:txBody>
      </p:sp>
      <p:sp>
        <p:nvSpPr>
          <p:cNvPr id="21" name="Text 19"/>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E37B27"/>
                </a:solidFill>
                <a:latin typeface="Calibri" pitchFamily="34" charset="0"/>
                <a:ea typeface="Calibri" pitchFamily="34" charset="-122"/>
                <a:cs typeface="Calibri" pitchFamily="34" charset="-120"/>
              </a:rPr>
              <a:t>PROJECT SUMMARY</a:t>
            </a:r>
            <a:endParaRPr lang="en-US" sz="12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indent="0" marL="0">
              <a:buNone/>
            </a:pPr>
            <a:r>
              <a:rPr lang="en-US" sz="3200" b="1" dirty="0">
                <a:solidFill>
                  <a:srgbClr val="1F2D3D"/>
                </a:solidFill>
                <a:latin typeface="Cambria" pitchFamily="34" charset="0"/>
                <a:ea typeface="Cambria" pitchFamily="34" charset="-122"/>
                <a:cs typeface="Cambria" pitchFamily="34" charset="-120"/>
              </a:rPr>
              <a:t>Abstract</a:t>
            </a:r>
            <a:endParaRPr lang="en-US" sz="3200" dirty="0"/>
          </a:p>
        </p:txBody>
      </p:sp>
      <p:sp>
        <p:nvSpPr>
          <p:cNvPr id="4" name="Text 2"/>
          <p:cNvSpPr/>
          <p:nvPr/>
        </p:nvSpPr>
        <p:spPr>
          <a:xfrm>
            <a:off x="548640" y="1554480"/>
            <a:ext cx="10241280" cy="914400"/>
          </a:xfrm>
          <a:prstGeom prst="rect">
            <a:avLst/>
          </a:prstGeom>
          <a:noFill/>
          <a:ln/>
        </p:spPr>
        <p:txBody>
          <a:bodyPr wrap="square" lIns="0" tIns="0" rIns="0" bIns="0" rtlCol="0" anchor="ctr"/>
          <a:lstStyle/>
          <a:p>
            <a:pPr indent="0" marL="0">
              <a:lnSpc>
                <a:spcPct val="130000"/>
              </a:lnSpc>
              <a:buNone/>
            </a:pPr>
            <a:r>
              <a:rPr lang="en-US" sz="1500" dirty="0">
                <a:solidFill>
                  <a:srgbClr val="2C3E50"/>
                </a:solidFill>
                <a:latin typeface="Calibri" pitchFamily="34" charset="0"/>
                <a:ea typeface="Calibri" pitchFamily="34" charset="-122"/>
                <a:cs typeface="Calibri" pitchFamily="34" charset="-120"/>
              </a:rPr>
              <a:t>The Inventory &amp; Warehouse Management System (IWMS) is a database application designed to manage the complete flow of goods inside a warehouse — from the moment a product arrives from a supplier to the moment it leaves for a customer order.</a:t>
            </a:r>
            <a:endParaRPr lang="en-US" sz="1500" dirty="0"/>
          </a:p>
        </p:txBody>
      </p:sp>
      <p:sp>
        <p:nvSpPr>
          <p:cNvPr id="5" name="Text 3"/>
          <p:cNvSpPr/>
          <p:nvPr/>
        </p:nvSpPr>
        <p:spPr>
          <a:xfrm>
            <a:off x="548640" y="2514600"/>
            <a:ext cx="10241280" cy="1371600"/>
          </a:xfrm>
          <a:prstGeom prst="rect">
            <a:avLst/>
          </a:prstGeom>
          <a:noFill/>
          <a:ln/>
        </p:spPr>
        <p:txBody>
          <a:bodyPr wrap="square" lIns="0" tIns="0" rIns="0" bIns="0" rtlCol="0" anchor="ctr"/>
          <a:lstStyle/>
          <a:p>
            <a:pPr indent="0" marL="0">
              <a:lnSpc>
                <a:spcPct val="130000"/>
              </a:lnSpc>
              <a:buNone/>
            </a:pPr>
            <a:r>
              <a:rPr lang="en-US" sz="1500" dirty="0">
                <a:solidFill>
                  <a:srgbClr val="2C3E50"/>
                </a:solidFill>
                <a:latin typeface="Calibri" pitchFamily="34" charset="0"/>
                <a:ea typeface="Calibri" pitchFamily="34" charset="-122"/>
                <a:cs typeface="Calibri" pitchFamily="34" charset="-120"/>
              </a:rPr>
              <a:t>The system uses a relational database (MySQL) to store details of products, categories, suppliers, warehouses, stock movements and orders. Well-defined relationships between tables prevent data redundancy, and SQL queries allow the system to quickly generate stock reports, low-stock alerts and order histories. The goal is to replace manual, error-prone record keeping with a fast and dependable digital system.</a:t>
            </a:r>
            <a:endParaRPr lang="en-US" sz="1500" dirty="0"/>
          </a:p>
        </p:txBody>
      </p:sp>
      <p:sp>
        <p:nvSpPr>
          <p:cNvPr id="6" name="Shape 4"/>
          <p:cNvSpPr/>
          <p:nvPr/>
        </p:nvSpPr>
        <p:spPr>
          <a:xfrm>
            <a:off x="548640" y="4297680"/>
            <a:ext cx="3291840" cy="1645920"/>
          </a:xfrm>
          <a:prstGeom prst="rect">
            <a:avLst/>
          </a:prstGeom>
          <a:solidFill>
            <a:srgbClr val="FFFFFF"/>
          </a:solidFill>
          <a:ln w="12700">
            <a:solidFill>
              <a:srgbClr val="E1E4E8"/>
            </a:solidFill>
            <a:prstDash val="solid"/>
          </a:ln>
          <a:effectLst>
            <a:outerShdw sx="100000" sy="100000" kx="0" ky="0" algn="bl" rotWithShape="0" blurRad="76200" dist="25400" dir="5400000">
              <a:srgbClr val="1F2D3D">
                <a:alpha val="12000"/>
              </a:srgbClr>
            </a:outerShdw>
          </a:effectLst>
        </p:spPr>
      </p:sp>
      <p:sp>
        <p:nvSpPr>
          <p:cNvPr id="7" name="Text 5"/>
          <p:cNvSpPr/>
          <p:nvPr/>
        </p:nvSpPr>
        <p:spPr>
          <a:xfrm>
            <a:off x="548640" y="4526280"/>
            <a:ext cx="3291840" cy="685800"/>
          </a:xfrm>
          <a:prstGeom prst="rect">
            <a:avLst/>
          </a:prstGeom>
          <a:noFill/>
          <a:ln/>
        </p:spPr>
        <p:txBody>
          <a:bodyPr wrap="square" lIns="0" tIns="0" rIns="0" bIns="0" rtlCol="0" anchor="ctr"/>
          <a:lstStyle/>
          <a:p>
            <a:pPr algn="ctr" indent="0" marL="0">
              <a:buNone/>
            </a:pPr>
            <a:r>
              <a:rPr lang="en-US" sz="4000" b="1" dirty="0">
                <a:solidFill>
                  <a:srgbClr val="E37B27"/>
                </a:solidFill>
                <a:latin typeface="Cambria" pitchFamily="34" charset="0"/>
                <a:ea typeface="Cambria" pitchFamily="34" charset="-122"/>
                <a:cs typeface="Cambria" pitchFamily="34" charset="-120"/>
              </a:rPr>
              <a:t>7</a:t>
            </a:r>
            <a:endParaRPr lang="en-US" sz="4000" dirty="0"/>
          </a:p>
        </p:txBody>
      </p:sp>
      <p:sp>
        <p:nvSpPr>
          <p:cNvPr id="8" name="Text 6"/>
          <p:cNvSpPr/>
          <p:nvPr/>
        </p:nvSpPr>
        <p:spPr>
          <a:xfrm>
            <a:off x="548640" y="5212080"/>
            <a:ext cx="3291840" cy="45720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Database Tables</a:t>
            </a:r>
            <a:endParaRPr lang="en-US" sz="1300" dirty="0"/>
          </a:p>
        </p:txBody>
      </p:sp>
      <p:sp>
        <p:nvSpPr>
          <p:cNvPr id="9" name="Shape 7"/>
          <p:cNvSpPr/>
          <p:nvPr/>
        </p:nvSpPr>
        <p:spPr>
          <a:xfrm>
            <a:off x="4160520" y="4297680"/>
            <a:ext cx="3291840" cy="1645920"/>
          </a:xfrm>
          <a:prstGeom prst="rect">
            <a:avLst/>
          </a:prstGeom>
          <a:solidFill>
            <a:srgbClr val="FFFFFF"/>
          </a:solidFill>
          <a:ln w="12700">
            <a:solidFill>
              <a:srgbClr val="E1E4E8"/>
            </a:solidFill>
            <a:prstDash val="solid"/>
          </a:ln>
          <a:effectLst>
            <a:outerShdw sx="100000" sy="100000" kx="0" ky="0" algn="bl" rotWithShape="0" blurRad="76200" dist="25400" dir="5400000">
              <a:srgbClr val="1F2D3D">
                <a:alpha val="12000"/>
              </a:srgbClr>
            </a:outerShdw>
          </a:effectLst>
        </p:spPr>
      </p:sp>
      <p:sp>
        <p:nvSpPr>
          <p:cNvPr id="10" name="Text 8"/>
          <p:cNvSpPr/>
          <p:nvPr/>
        </p:nvSpPr>
        <p:spPr>
          <a:xfrm>
            <a:off x="4160520" y="4526280"/>
            <a:ext cx="3291840" cy="685800"/>
          </a:xfrm>
          <a:prstGeom prst="rect">
            <a:avLst/>
          </a:prstGeom>
          <a:noFill/>
          <a:ln/>
        </p:spPr>
        <p:txBody>
          <a:bodyPr wrap="square" lIns="0" tIns="0" rIns="0" bIns="0" rtlCol="0" anchor="ctr"/>
          <a:lstStyle/>
          <a:p>
            <a:pPr algn="ctr" indent="0" marL="0">
              <a:buNone/>
            </a:pPr>
            <a:r>
              <a:rPr lang="en-US" sz="4000" b="1" dirty="0">
                <a:solidFill>
                  <a:srgbClr val="E37B27"/>
                </a:solidFill>
                <a:latin typeface="Cambria" pitchFamily="34" charset="0"/>
                <a:ea typeface="Cambria" pitchFamily="34" charset="-122"/>
                <a:cs typeface="Cambria" pitchFamily="34" charset="-120"/>
              </a:rPr>
              <a:t>6</a:t>
            </a:r>
            <a:endParaRPr lang="en-US" sz="4000" dirty="0"/>
          </a:p>
        </p:txBody>
      </p:sp>
      <p:sp>
        <p:nvSpPr>
          <p:cNvPr id="11" name="Text 9"/>
          <p:cNvSpPr/>
          <p:nvPr/>
        </p:nvSpPr>
        <p:spPr>
          <a:xfrm>
            <a:off x="4160520" y="5212080"/>
            <a:ext cx="3291840" cy="45720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Core Modules</a:t>
            </a:r>
            <a:endParaRPr lang="en-US" sz="1300" dirty="0"/>
          </a:p>
        </p:txBody>
      </p:sp>
      <p:sp>
        <p:nvSpPr>
          <p:cNvPr id="12" name="Shape 10"/>
          <p:cNvSpPr/>
          <p:nvPr/>
        </p:nvSpPr>
        <p:spPr>
          <a:xfrm>
            <a:off x="7772400" y="4297680"/>
            <a:ext cx="3291840" cy="1645920"/>
          </a:xfrm>
          <a:prstGeom prst="rect">
            <a:avLst/>
          </a:prstGeom>
          <a:solidFill>
            <a:srgbClr val="FFFFFF"/>
          </a:solidFill>
          <a:ln w="12700">
            <a:solidFill>
              <a:srgbClr val="E1E4E8"/>
            </a:solidFill>
            <a:prstDash val="solid"/>
          </a:ln>
          <a:effectLst>
            <a:outerShdw sx="100000" sy="100000" kx="0" ky="0" algn="bl" rotWithShape="0" blurRad="76200" dist="25400" dir="5400000">
              <a:srgbClr val="1F2D3D">
                <a:alpha val="12000"/>
              </a:srgbClr>
            </a:outerShdw>
          </a:effectLst>
        </p:spPr>
      </p:sp>
      <p:sp>
        <p:nvSpPr>
          <p:cNvPr id="13" name="Text 11"/>
          <p:cNvSpPr/>
          <p:nvPr/>
        </p:nvSpPr>
        <p:spPr>
          <a:xfrm>
            <a:off x="7772400" y="4526280"/>
            <a:ext cx="3291840" cy="685800"/>
          </a:xfrm>
          <a:prstGeom prst="rect">
            <a:avLst/>
          </a:prstGeom>
          <a:noFill/>
          <a:ln/>
        </p:spPr>
        <p:txBody>
          <a:bodyPr wrap="square" lIns="0" tIns="0" rIns="0" bIns="0" rtlCol="0" anchor="ctr"/>
          <a:lstStyle/>
          <a:p>
            <a:pPr algn="ctr" indent="0" marL="0">
              <a:buNone/>
            </a:pPr>
            <a:r>
              <a:rPr lang="en-US" sz="4000" b="1" dirty="0">
                <a:solidFill>
                  <a:srgbClr val="E37B27"/>
                </a:solidFill>
                <a:latin typeface="Cambria" pitchFamily="34" charset="0"/>
                <a:ea typeface="Cambria" pitchFamily="34" charset="-122"/>
                <a:cs typeface="Cambria" pitchFamily="34" charset="-120"/>
              </a:rPr>
              <a:t>100%</a:t>
            </a:r>
            <a:endParaRPr lang="en-US" sz="4000" dirty="0"/>
          </a:p>
        </p:txBody>
      </p:sp>
      <p:sp>
        <p:nvSpPr>
          <p:cNvPr id="14" name="Text 12"/>
          <p:cNvSpPr/>
          <p:nvPr/>
        </p:nvSpPr>
        <p:spPr>
          <a:xfrm>
            <a:off x="7772400" y="5212080"/>
            <a:ext cx="3291840" cy="45720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Real-Time Stock Data</a:t>
            </a:r>
            <a:endParaRPr lang="en-US" sz="1300" dirty="0"/>
          </a:p>
        </p:txBody>
      </p:sp>
      <p:sp>
        <p:nvSpPr>
          <p:cNvPr id="15" name="Text 13"/>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684"/>
                </a:solidFill>
                <a:latin typeface="Calibri" pitchFamily="34" charset="0"/>
                <a:ea typeface="Calibri" pitchFamily="34" charset="-122"/>
                <a:cs typeface="Calibri" pitchFamily="34" charset="-120"/>
              </a:rPr>
              <a:t>Inventory &amp; Warehouse Management System</a:t>
            </a:r>
            <a:endParaRPr lang="en-US" sz="900" dirty="0"/>
          </a:p>
        </p:txBody>
      </p:sp>
      <p:sp>
        <p:nvSpPr>
          <p:cNvPr id="16" name="Text 14"/>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E37B27"/>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indent="0" marL="0">
              <a:buNone/>
            </a:pPr>
            <a:r>
              <a:rPr lang="en-US" sz="3200" b="1" dirty="0">
                <a:solidFill>
                  <a:srgbClr val="1F2D3D"/>
                </a:solidFill>
                <a:latin typeface="Cambria" pitchFamily="34" charset="0"/>
                <a:ea typeface="Cambria" pitchFamily="34" charset="-122"/>
                <a:cs typeface="Cambria" pitchFamily="34" charset="-120"/>
              </a:rPr>
              <a:t>Problem Statement</a:t>
            </a:r>
            <a:endParaRPr lang="en-US" sz="3200" dirty="0"/>
          </a:p>
        </p:txBody>
      </p:sp>
      <p:sp>
        <p:nvSpPr>
          <p:cNvPr id="4" name="Text 2"/>
          <p:cNvSpPr/>
          <p:nvPr/>
        </p:nvSpPr>
        <p:spPr>
          <a:xfrm>
            <a:off x="548640" y="1463040"/>
            <a:ext cx="10424160" cy="548640"/>
          </a:xfrm>
          <a:prstGeom prst="rect">
            <a:avLst/>
          </a:prstGeom>
          <a:noFill/>
          <a:ln/>
        </p:spPr>
        <p:txBody>
          <a:bodyPr wrap="square" lIns="0" tIns="0" rIns="0" bIns="0" rtlCol="0" anchor="ctr"/>
          <a:lstStyle/>
          <a:p>
            <a:pPr indent="0" marL="0">
              <a:lnSpc>
                <a:spcPct val="125000"/>
              </a:lnSpc>
              <a:buNone/>
            </a:pPr>
            <a:r>
              <a:rPr lang="en-US" sz="1450" dirty="0">
                <a:solidFill>
                  <a:srgbClr val="2C3E50"/>
                </a:solidFill>
                <a:latin typeface="Calibri" pitchFamily="34" charset="0"/>
                <a:ea typeface="Calibri" pitchFamily="34" charset="-122"/>
                <a:cs typeface="Calibri" pitchFamily="34" charset="-120"/>
              </a:rPr>
              <a:t>Small and medium warehouses still manage stock using registers or basic spreadsheets. This manual approach creates real, day-to-day business problems:</a:t>
            </a:r>
            <a:endParaRPr lang="en-US" sz="1450" dirty="0"/>
          </a:p>
        </p:txBody>
      </p:sp>
      <p:sp>
        <p:nvSpPr>
          <p:cNvPr id="5" name="Shape 3"/>
          <p:cNvSpPr/>
          <p:nvPr/>
        </p:nvSpPr>
        <p:spPr>
          <a:xfrm>
            <a:off x="548640" y="2194560"/>
            <a:ext cx="3505200" cy="182880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6" name="Shape 4"/>
          <p:cNvSpPr/>
          <p:nvPr/>
        </p:nvSpPr>
        <p:spPr>
          <a:xfrm>
            <a:off x="777240" y="2377440"/>
            <a:ext cx="457200" cy="457200"/>
          </a:xfrm>
          <a:prstGeom prst="ellipse">
            <a:avLst/>
          </a:prstGeom>
          <a:solidFill>
            <a:srgbClr val="E37B27">
              <a:alpha val="85000"/>
            </a:srgbClr>
          </a:solidFill>
          <a:ln/>
        </p:spPr>
      </p:sp>
      <p:sp>
        <p:nvSpPr>
          <p:cNvPr id="7" name="Text 5"/>
          <p:cNvSpPr/>
          <p:nvPr/>
        </p:nvSpPr>
        <p:spPr>
          <a:xfrm>
            <a:off x="777240" y="2377440"/>
            <a:ext cx="457200" cy="457200"/>
          </a:xfrm>
          <a:prstGeom prst="rect">
            <a:avLst/>
          </a:prstGeom>
          <a:noFill/>
          <a:ln/>
        </p:spPr>
        <p:txBody>
          <a:bodyPr wrap="square" lIns="0" tIns="0" rIns="0" bIns="0" rtlCol="0" anchor="ctr"/>
          <a:lstStyle/>
          <a:p>
            <a:pPr algn="ctr" indent="0" marL="0">
              <a:buNone/>
            </a:pPr>
            <a:r>
              <a:rPr lang="en-US" sz="1300" b="1" dirty="0">
                <a:solidFill>
                  <a:srgbClr val="1F2D3D"/>
                </a:solidFill>
                <a:latin typeface="Cambria" pitchFamily="34" charset="0"/>
                <a:ea typeface="Cambria" pitchFamily="34" charset="-122"/>
                <a:cs typeface="Cambria" pitchFamily="34" charset="-120"/>
              </a:rPr>
              <a:t>01</a:t>
            </a:r>
            <a:endParaRPr lang="en-US" sz="1300" dirty="0"/>
          </a:p>
        </p:txBody>
      </p:sp>
      <p:sp>
        <p:nvSpPr>
          <p:cNvPr id="8" name="Text 6"/>
          <p:cNvSpPr/>
          <p:nvPr/>
        </p:nvSpPr>
        <p:spPr>
          <a:xfrm>
            <a:off x="777240" y="2971800"/>
            <a:ext cx="3048000" cy="36576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Stock Mismatch</a:t>
            </a:r>
            <a:endParaRPr lang="en-US" sz="1350" dirty="0"/>
          </a:p>
        </p:txBody>
      </p:sp>
      <p:sp>
        <p:nvSpPr>
          <p:cNvPr id="9" name="Text 7"/>
          <p:cNvSpPr/>
          <p:nvPr/>
        </p:nvSpPr>
        <p:spPr>
          <a:xfrm>
            <a:off x="777240" y="3355848"/>
            <a:ext cx="3048000" cy="594360"/>
          </a:xfrm>
          <a:prstGeom prst="rect">
            <a:avLst/>
          </a:prstGeom>
          <a:noFill/>
          <a:ln/>
        </p:spPr>
        <p:txBody>
          <a:bodyPr wrap="square" lIns="0" tIns="0" rIns="0" bIns="0" rtlCol="0" anchor="ctr"/>
          <a:lstStyle/>
          <a:p>
            <a:pPr indent="0" marL="0">
              <a:lnSpc>
                <a:spcPct val="120000"/>
              </a:lnSpc>
              <a:buNone/>
            </a:pPr>
            <a:r>
              <a:rPr lang="en-US" sz="1080" dirty="0">
                <a:solidFill>
                  <a:srgbClr val="6B7684"/>
                </a:solidFill>
                <a:latin typeface="Calibri" pitchFamily="34" charset="0"/>
                <a:ea typeface="Calibri" pitchFamily="34" charset="-122"/>
                <a:cs typeface="Calibri" pitchFamily="34" charset="-120"/>
              </a:rPr>
              <a:t>Physical stock and recorded stock often don’t match because entries are missed or duplicated.</a:t>
            </a:r>
            <a:endParaRPr lang="en-US" sz="1080" dirty="0"/>
          </a:p>
        </p:txBody>
      </p:sp>
      <p:sp>
        <p:nvSpPr>
          <p:cNvPr id="10" name="Shape 8"/>
          <p:cNvSpPr/>
          <p:nvPr/>
        </p:nvSpPr>
        <p:spPr>
          <a:xfrm>
            <a:off x="4328160" y="2194560"/>
            <a:ext cx="3505200" cy="182880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11" name="Shape 9"/>
          <p:cNvSpPr/>
          <p:nvPr/>
        </p:nvSpPr>
        <p:spPr>
          <a:xfrm>
            <a:off x="4556760" y="2377440"/>
            <a:ext cx="457200" cy="457200"/>
          </a:xfrm>
          <a:prstGeom prst="ellipse">
            <a:avLst/>
          </a:prstGeom>
          <a:solidFill>
            <a:srgbClr val="E37B27">
              <a:alpha val="85000"/>
            </a:srgbClr>
          </a:solidFill>
          <a:ln/>
        </p:spPr>
      </p:sp>
      <p:sp>
        <p:nvSpPr>
          <p:cNvPr id="12" name="Text 10"/>
          <p:cNvSpPr/>
          <p:nvPr/>
        </p:nvSpPr>
        <p:spPr>
          <a:xfrm>
            <a:off x="4556760" y="2377440"/>
            <a:ext cx="457200" cy="457200"/>
          </a:xfrm>
          <a:prstGeom prst="rect">
            <a:avLst/>
          </a:prstGeom>
          <a:noFill/>
          <a:ln/>
        </p:spPr>
        <p:txBody>
          <a:bodyPr wrap="square" lIns="0" tIns="0" rIns="0" bIns="0" rtlCol="0" anchor="ctr"/>
          <a:lstStyle/>
          <a:p>
            <a:pPr algn="ctr" indent="0" marL="0">
              <a:buNone/>
            </a:pPr>
            <a:r>
              <a:rPr lang="en-US" sz="1300" b="1" dirty="0">
                <a:solidFill>
                  <a:srgbClr val="1F2D3D"/>
                </a:solidFill>
                <a:latin typeface="Cambria" pitchFamily="34" charset="0"/>
                <a:ea typeface="Cambria" pitchFamily="34" charset="-122"/>
                <a:cs typeface="Cambria" pitchFamily="34" charset="-120"/>
              </a:rPr>
              <a:t>02</a:t>
            </a:r>
            <a:endParaRPr lang="en-US" sz="1300" dirty="0"/>
          </a:p>
        </p:txBody>
      </p:sp>
      <p:sp>
        <p:nvSpPr>
          <p:cNvPr id="13" name="Text 11"/>
          <p:cNvSpPr/>
          <p:nvPr/>
        </p:nvSpPr>
        <p:spPr>
          <a:xfrm>
            <a:off x="4556760" y="2971800"/>
            <a:ext cx="3048000" cy="36576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Delayed Order Processing</a:t>
            </a:r>
            <a:endParaRPr lang="en-US" sz="1350" dirty="0"/>
          </a:p>
        </p:txBody>
      </p:sp>
      <p:sp>
        <p:nvSpPr>
          <p:cNvPr id="14" name="Text 12"/>
          <p:cNvSpPr/>
          <p:nvPr/>
        </p:nvSpPr>
        <p:spPr>
          <a:xfrm>
            <a:off x="4556760" y="3355848"/>
            <a:ext cx="3048000" cy="594360"/>
          </a:xfrm>
          <a:prstGeom prst="rect">
            <a:avLst/>
          </a:prstGeom>
          <a:noFill/>
          <a:ln/>
        </p:spPr>
        <p:txBody>
          <a:bodyPr wrap="square" lIns="0" tIns="0" rIns="0" bIns="0" rtlCol="0" anchor="ctr"/>
          <a:lstStyle/>
          <a:p>
            <a:pPr indent="0" marL="0">
              <a:lnSpc>
                <a:spcPct val="120000"/>
              </a:lnSpc>
              <a:buNone/>
            </a:pPr>
            <a:r>
              <a:rPr lang="en-US" sz="1080" dirty="0">
                <a:solidFill>
                  <a:srgbClr val="6B7684"/>
                </a:solidFill>
                <a:latin typeface="Calibri" pitchFamily="34" charset="0"/>
                <a:ea typeface="Calibri" pitchFamily="34" charset="-122"/>
                <a:cs typeface="Calibri" pitchFamily="34" charset="-120"/>
              </a:rPr>
              <a:t>Staff must manually check paper records before confirming if an order can be fulfilled.</a:t>
            </a:r>
            <a:endParaRPr lang="en-US" sz="1080" dirty="0"/>
          </a:p>
        </p:txBody>
      </p:sp>
      <p:sp>
        <p:nvSpPr>
          <p:cNvPr id="15" name="Shape 13"/>
          <p:cNvSpPr/>
          <p:nvPr/>
        </p:nvSpPr>
        <p:spPr>
          <a:xfrm>
            <a:off x="8107680" y="2194560"/>
            <a:ext cx="3505200" cy="182880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16" name="Shape 14"/>
          <p:cNvSpPr/>
          <p:nvPr/>
        </p:nvSpPr>
        <p:spPr>
          <a:xfrm>
            <a:off x="8336280" y="2377440"/>
            <a:ext cx="457200" cy="457200"/>
          </a:xfrm>
          <a:prstGeom prst="ellipse">
            <a:avLst/>
          </a:prstGeom>
          <a:solidFill>
            <a:srgbClr val="E37B27">
              <a:alpha val="85000"/>
            </a:srgbClr>
          </a:solidFill>
          <a:ln/>
        </p:spPr>
      </p:sp>
      <p:sp>
        <p:nvSpPr>
          <p:cNvPr id="17" name="Text 15"/>
          <p:cNvSpPr/>
          <p:nvPr/>
        </p:nvSpPr>
        <p:spPr>
          <a:xfrm>
            <a:off x="8336280" y="2377440"/>
            <a:ext cx="457200" cy="457200"/>
          </a:xfrm>
          <a:prstGeom prst="rect">
            <a:avLst/>
          </a:prstGeom>
          <a:noFill/>
          <a:ln/>
        </p:spPr>
        <p:txBody>
          <a:bodyPr wrap="square" lIns="0" tIns="0" rIns="0" bIns="0" rtlCol="0" anchor="ctr"/>
          <a:lstStyle/>
          <a:p>
            <a:pPr algn="ctr" indent="0" marL="0">
              <a:buNone/>
            </a:pPr>
            <a:r>
              <a:rPr lang="en-US" sz="1300" b="1" dirty="0">
                <a:solidFill>
                  <a:srgbClr val="1F2D3D"/>
                </a:solidFill>
                <a:latin typeface="Cambria" pitchFamily="34" charset="0"/>
                <a:ea typeface="Cambria" pitchFamily="34" charset="-122"/>
                <a:cs typeface="Cambria" pitchFamily="34" charset="-120"/>
              </a:rPr>
              <a:t>03</a:t>
            </a:r>
            <a:endParaRPr lang="en-US" sz="1300" dirty="0"/>
          </a:p>
        </p:txBody>
      </p:sp>
      <p:sp>
        <p:nvSpPr>
          <p:cNvPr id="18" name="Text 16"/>
          <p:cNvSpPr/>
          <p:nvPr/>
        </p:nvSpPr>
        <p:spPr>
          <a:xfrm>
            <a:off x="8336280" y="2971800"/>
            <a:ext cx="3048000" cy="36576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No Real-Time Visibility</a:t>
            </a:r>
            <a:endParaRPr lang="en-US" sz="1350" dirty="0"/>
          </a:p>
        </p:txBody>
      </p:sp>
      <p:sp>
        <p:nvSpPr>
          <p:cNvPr id="19" name="Text 17"/>
          <p:cNvSpPr/>
          <p:nvPr/>
        </p:nvSpPr>
        <p:spPr>
          <a:xfrm>
            <a:off x="8336280" y="3355848"/>
            <a:ext cx="3048000" cy="594360"/>
          </a:xfrm>
          <a:prstGeom prst="rect">
            <a:avLst/>
          </a:prstGeom>
          <a:noFill/>
          <a:ln/>
        </p:spPr>
        <p:txBody>
          <a:bodyPr wrap="square" lIns="0" tIns="0" rIns="0" bIns="0" rtlCol="0" anchor="ctr"/>
          <a:lstStyle/>
          <a:p>
            <a:pPr indent="0" marL="0">
              <a:lnSpc>
                <a:spcPct val="120000"/>
              </a:lnSpc>
              <a:buNone/>
            </a:pPr>
            <a:r>
              <a:rPr lang="en-US" sz="1080" dirty="0">
                <a:solidFill>
                  <a:srgbClr val="6B7684"/>
                </a:solidFill>
                <a:latin typeface="Calibri" pitchFamily="34" charset="0"/>
                <a:ea typeface="Calibri" pitchFamily="34" charset="-122"/>
                <a:cs typeface="Calibri" pitchFamily="34" charset="-120"/>
              </a:rPr>
              <a:t>Managers cannot see current stock levels across the warehouse instantly.</a:t>
            </a:r>
            <a:endParaRPr lang="en-US" sz="1080" dirty="0"/>
          </a:p>
        </p:txBody>
      </p:sp>
      <p:sp>
        <p:nvSpPr>
          <p:cNvPr id="20" name="Shape 18"/>
          <p:cNvSpPr/>
          <p:nvPr/>
        </p:nvSpPr>
        <p:spPr>
          <a:xfrm>
            <a:off x="548640" y="4297680"/>
            <a:ext cx="3505200" cy="182880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21" name="Shape 19"/>
          <p:cNvSpPr/>
          <p:nvPr/>
        </p:nvSpPr>
        <p:spPr>
          <a:xfrm>
            <a:off x="777240" y="4480560"/>
            <a:ext cx="457200" cy="457200"/>
          </a:xfrm>
          <a:prstGeom prst="ellipse">
            <a:avLst/>
          </a:prstGeom>
          <a:solidFill>
            <a:srgbClr val="E37B27">
              <a:alpha val="85000"/>
            </a:srgbClr>
          </a:solidFill>
          <a:ln/>
        </p:spPr>
      </p:sp>
      <p:sp>
        <p:nvSpPr>
          <p:cNvPr id="22" name="Text 20"/>
          <p:cNvSpPr/>
          <p:nvPr/>
        </p:nvSpPr>
        <p:spPr>
          <a:xfrm>
            <a:off x="777240" y="4480560"/>
            <a:ext cx="457200" cy="457200"/>
          </a:xfrm>
          <a:prstGeom prst="rect">
            <a:avLst/>
          </a:prstGeom>
          <a:noFill/>
          <a:ln/>
        </p:spPr>
        <p:txBody>
          <a:bodyPr wrap="square" lIns="0" tIns="0" rIns="0" bIns="0" rtlCol="0" anchor="ctr"/>
          <a:lstStyle/>
          <a:p>
            <a:pPr algn="ctr" indent="0" marL="0">
              <a:buNone/>
            </a:pPr>
            <a:r>
              <a:rPr lang="en-US" sz="1300" b="1" dirty="0">
                <a:solidFill>
                  <a:srgbClr val="1F2D3D"/>
                </a:solidFill>
                <a:latin typeface="Cambria" pitchFamily="34" charset="0"/>
                <a:ea typeface="Cambria" pitchFamily="34" charset="-122"/>
                <a:cs typeface="Cambria" pitchFamily="34" charset="-120"/>
              </a:rPr>
              <a:t>04</a:t>
            </a:r>
            <a:endParaRPr lang="en-US" sz="1300" dirty="0"/>
          </a:p>
        </p:txBody>
      </p:sp>
      <p:sp>
        <p:nvSpPr>
          <p:cNvPr id="23" name="Text 21"/>
          <p:cNvSpPr/>
          <p:nvPr/>
        </p:nvSpPr>
        <p:spPr>
          <a:xfrm>
            <a:off x="777240" y="5074920"/>
            <a:ext cx="3048000" cy="36576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Difficult Reporting</a:t>
            </a:r>
            <a:endParaRPr lang="en-US" sz="1350" dirty="0"/>
          </a:p>
        </p:txBody>
      </p:sp>
      <p:sp>
        <p:nvSpPr>
          <p:cNvPr id="24" name="Text 22"/>
          <p:cNvSpPr/>
          <p:nvPr/>
        </p:nvSpPr>
        <p:spPr>
          <a:xfrm>
            <a:off x="777240" y="5458968"/>
            <a:ext cx="3048000" cy="594360"/>
          </a:xfrm>
          <a:prstGeom prst="rect">
            <a:avLst/>
          </a:prstGeom>
          <a:noFill/>
          <a:ln/>
        </p:spPr>
        <p:txBody>
          <a:bodyPr wrap="square" lIns="0" tIns="0" rIns="0" bIns="0" rtlCol="0" anchor="ctr"/>
          <a:lstStyle/>
          <a:p>
            <a:pPr indent="0" marL="0">
              <a:lnSpc>
                <a:spcPct val="120000"/>
              </a:lnSpc>
              <a:buNone/>
            </a:pPr>
            <a:r>
              <a:rPr lang="en-US" sz="1080" dirty="0">
                <a:solidFill>
                  <a:srgbClr val="6B7684"/>
                </a:solidFill>
                <a:latin typeface="Calibri" pitchFamily="34" charset="0"/>
                <a:ea typeface="Calibri" pitchFamily="34" charset="-122"/>
                <a:cs typeface="Calibri" pitchFamily="34" charset="-120"/>
              </a:rPr>
              <a:t>Generating monthly stock or sales reports by hand takes hours and is error-prone.</a:t>
            </a:r>
            <a:endParaRPr lang="en-US" sz="1080" dirty="0"/>
          </a:p>
        </p:txBody>
      </p:sp>
      <p:sp>
        <p:nvSpPr>
          <p:cNvPr id="25" name="Shape 23"/>
          <p:cNvSpPr/>
          <p:nvPr/>
        </p:nvSpPr>
        <p:spPr>
          <a:xfrm>
            <a:off x="4328160" y="4297680"/>
            <a:ext cx="3505200" cy="182880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26" name="Shape 24"/>
          <p:cNvSpPr/>
          <p:nvPr/>
        </p:nvSpPr>
        <p:spPr>
          <a:xfrm>
            <a:off x="4556760" y="4480560"/>
            <a:ext cx="457200" cy="457200"/>
          </a:xfrm>
          <a:prstGeom prst="ellipse">
            <a:avLst/>
          </a:prstGeom>
          <a:solidFill>
            <a:srgbClr val="E37B27">
              <a:alpha val="85000"/>
            </a:srgbClr>
          </a:solidFill>
          <a:ln/>
        </p:spPr>
      </p:sp>
      <p:sp>
        <p:nvSpPr>
          <p:cNvPr id="27" name="Text 25"/>
          <p:cNvSpPr/>
          <p:nvPr/>
        </p:nvSpPr>
        <p:spPr>
          <a:xfrm>
            <a:off x="4556760" y="4480560"/>
            <a:ext cx="457200" cy="457200"/>
          </a:xfrm>
          <a:prstGeom prst="rect">
            <a:avLst/>
          </a:prstGeom>
          <a:noFill/>
          <a:ln/>
        </p:spPr>
        <p:txBody>
          <a:bodyPr wrap="square" lIns="0" tIns="0" rIns="0" bIns="0" rtlCol="0" anchor="ctr"/>
          <a:lstStyle/>
          <a:p>
            <a:pPr algn="ctr" indent="0" marL="0">
              <a:buNone/>
            </a:pPr>
            <a:r>
              <a:rPr lang="en-US" sz="1300" b="1" dirty="0">
                <a:solidFill>
                  <a:srgbClr val="1F2D3D"/>
                </a:solidFill>
                <a:latin typeface="Cambria" pitchFamily="34" charset="0"/>
                <a:ea typeface="Cambria" pitchFamily="34" charset="-122"/>
                <a:cs typeface="Cambria" pitchFamily="34" charset="-120"/>
              </a:rPr>
              <a:t>05</a:t>
            </a:r>
            <a:endParaRPr lang="en-US" sz="1300" dirty="0"/>
          </a:p>
        </p:txBody>
      </p:sp>
      <p:sp>
        <p:nvSpPr>
          <p:cNvPr id="28" name="Text 26"/>
          <p:cNvSpPr/>
          <p:nvPr/>
        </p:nvSpPr>
        <p:spPr>
          <a:xfrm>
            <a:off x="4556760" y="5074920"/>
            <a:ext cx="3048000" cy="36576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Supplier Tracking Issues</a:t>
            </a:r>
            <a:endParaRPr lang="en-US" sz="1350" dirty="0"/>
          </a:p>
        </p:txBody>
      </p:sp>
      <p:sp>
        <p:nvSpPr>
          <p:cNvPr id="29" name="Text 27"/>
          <p:cNvSpPr/>
          <p:nvPr/>
        </p:nvSpPr>
        <p:spPr>
          <a:xfrm>
            <a:off x="4556760" y="5458968"/>
            <a:ext cx="3048000" cy="594360"/>
          </a:xfrm>
          <a:prstGeom prst="rect">
            <a:avLst/>
          </a:prstGeom>
          <a:noFill/>
          <a:ln/>
        </p:spPr>
        <p:txBody>
          <a:bodyPr wrap="square" lIns="0" tIns="0" rIns="0" bIns="0" rtlCol="0" anchor="ctr"/>
          <a:lstStyle/>
          <a:p>
            <a:pPr indent="0" marL="0">
              <a:lnSpc>
                <a:spcPct val="120000"/>
              </a:lnSpc>
              <a:buNone/>
            </a:pPr>
            <a:r>
              <a:rPr lang="en-US" sz="1080" dirty="0">
                <a:solidFill>
                  <a:srgbClr val="6B7684"/>
                </a:solidFill>
                <a:latin typeface="Calibri" pitchFamily="34" charset="0"/>
                <a:ea typeface="Calibri" pitchFamily="34" charset="-122"/>
                <a:cs typeface="Calibri" pitchFamily="34" charset="-120"/>
              </a:rPr>
              <a:t>No structured way to know which supplier delivered which batch of a product.</a:t>
            </a:r>
            <a:endParaRPr lang="en-US" sz="1080" dirty="0"/>
          </a:p>
        </p:txBody>
      </p:sp>
      <p:sp>
        <p:nvSpPr>
          <p:cNvPr id="30" name="Shape 28"/>
          <p:cNvSpPr/>
          <p:nvPr/>
        </p:nvSpPr>
        <p:spPr>
          <a:xfrm>
            <a:off x="8107680" y="4297680"/>
            <a:ext cx="3505200" cy="182880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31" name="Shape 29"/>
          <p:cNvSpPr/>
          <p:nvPr/>
        </p:nvSpPr>
        <p:spPr>
          <a:xfrm>
            <a:off x="8336280" y="4480560"/>
            <a:ext cx="457200" cy="457200"/>
          </a:xfrm>
          <a:prstGeom prst="ellipse">
            <a:avLst/>
          </a:prstGeom>
          <a:solidFill>
            <a:srgbClr val="E37B27">
              <a:alpha val="85000"/>
            </a:srgbClr>
          </a:solidFill>
          <a:ln/>
        </p:spPr>
      </p:sp>
      <p:sp>
        <p:nvSpPr>
          <p:cNvPr id="32" name="Text 30"/>
          <p:cNvSpPr/>
          <p:nvPr/>
        </p:nvSpPr>
        <p:spPr>
          <a:xfrm>
            <a:off x="8336280" y="4480560"/>
            <a:ext cx="457200" cy="457200"/>
          </a:xfrm>
          <a:prstGeom prst="rect">
            <a:avLst/>
          </a:prstGeom>
          <a:noFill/>
          <a:ln/>
        </p:spPr>
        <p:txBody>
          <a:bodyPr wrap="square" lIns="0" tIns="0" rIns="0" bIns="0" rtlCol="0" anchor="ctr"/>
          <a:lstStyle/>
          <a:p>
            <a:pPr algn="ctr" indent="0" marL="0">
              <a:buNone/>
            </a:pPr>
            <a:r>
              <a:rPr lang="en-US" sz="1300" b="1" dirty="0">
                <a:solidFill>
                  <a:srgbClr val="1F2D3D"/>
                </a:solidFill>
                <a:latin typeface="Cambria" pitchFamily="34" charset="0"/>
                <a:ea typeface="Cambria" pitchFamily="34" charset="-122"/>
                <a:cs typeface="Cambria" pitchFamily="34" charset="-120"/>
              </a:rPr>
              <a:t>06</a:t>
            </a:r>
            <a:endParaRPr lang="en-US" sz="1300" dirty="0"/>
          </a:p>
        </p:txBody>
      </p:sp>
      <p:sp>
        <p:nvSpPr>
          <p:cNvPr id="33" name="Text 31"/>
          <p:cNvSpPr/>
          <p:nvPr/>
        </p:nvSpPr>
        <p:spPr>
          <a:xfrm>
            <a:off x="8336280" y="5074920"/>
            <a:ext cx="3048000" cy="36576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Data Redundancy</a:t>
            </a:r>
            <a:endParaRPr lang="en-US" sz="1350" dirty="0"/>
          </a:p>
        </p:txBody>
      </p:sp>
      <p:sp>
        <p:nvSpPr>
          <p:cNvPr id="34" name="Text 32"/>
          <p:cNvSpPr/>
          <p:nvPr/>
        </p:nvSpPr>
        <p:spPr>
          <a:xfrm>
            <a:off x="8336280" y="5458968"/>
            <a:ext cx="3048000" cy="594360"/>
          </a:xfrm>
          <a:prstGeom prst="rect">
            <a:avLst/>
          </a:prstGeom>
          <a:noFill/>
          <a:ln/>
        </p:spPr>
        <p:txBody>
          <a:bodyPr wrap="square" lIns="0" tIns="0" rIns="0" bIns="0" rtlCol="0" anchor="ctr"/>
          <a:lstStyle/>
          <a:p>
            <a:pPr indent="0" marL="0">
              <a:lnSpc>
                <a:spcPct val="120000"/>
              </a:lnSpc>
              <a:buNone/>
            </a:pPr>
            <a:r>
              <a:rPr lang="en-US" sz="1080" dirty="0">
                <a:solidFill>
                  <a:srgbClr val="6B7684"/>
                </a:solidFill>
                <a:latin typeface="Calibri" pitchFamily="34" charset="0"/>
                <a:ea typeface="Calibri" pitchFamily="34" charset="-122"/>
                <a:cs typeface="Calibri" pitchFamily="34" charset="-120"/>
              </a:rPr>
              <a:t>The same product or supplier details get typed again and again in different sheets.</a:t>
            </a:r>
            <a:endParaRPr lang="en-US" sz="1080" dirty="0"/>
          </a:p>
        </p:txBody>
      </p:sp>
      <p:sp>
        <p:nvSpPr>
          <p:cNvPr id="35" name="Text 33"/>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684"/>
                </a:solidFill>
                <a:latin typeface="Calibri" pitchFamily="34" charset="0"/>
                <a:ea typeface="Calibri" pitchFamily="34" charset="-122"/>
                <a:cs typeface="Calibri" pitchFamily="34" charset="-120"/>
              </a:rPr>
              <a:t>Inventory &amp; Warehouse Management System</a:t>
            </a:r>
            <a:endParaRPr lang="en-US" sz="900" dirty="0"/>
          </a:p>
        </p:txBody>
      </p:sp>
      <p:sp>
        <p:nvSpPr>
          <p:cNvPr id="36" name="Text 34"/>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E37B27"/>
                </a:solidFill>
                <a:latin typeface="Calibri" pitchFamily="34" charset="0"/>
                <a:ea typeface="Calibri" pitchFamily="34" charset="-122"/>
                <a:cs typeface="Calibri" pitchFamily="34" charset="-120"/>
              </a:rPr>
              <a:t>WHAT WE AIM TO ACHIEVE</a:t>
            </a:r>
            <a:endParaRPr lang="en-US" sz="12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indent="0" marL="0">
              <a:buNone/>
            </a:pPr>
            <a:r>
              <a:rPr lang="en-US" sz="3200" b="1" dirty="0">
                <a:solidFill>
                  <a:srgbClr val="1F2D3D"/>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548640" y="1600200"/>
            <a:ext cx="502920" cy="502920"/>
          </a:xfrm>
          <a:prstGeom prst="ellipse">
            <a:avLst/>
          </a:prstGeom>
          <a:solidFill>
            <a:srgbClr val="1F2D3D"/>
          </a:solidFill>
          <a:ln/>
        </p:spPr>
      </p:sp>
      <p:sp>
        <p:nvSpPr>
          <p:cNvPr id="5" name="Text 3"/>
          <p:cNvSpPr/>
          <p:nvPr/>
        </p:nvSpPr>
        <p:spPr>
          <a:xfrm>
            <a:off x="548640" y="1600200"/>
            <a:ext cx="502920" cy="502920"/>
          </a:xfrm>
          <a:prstGeom prst="rect">
            <a:avLst/>
          </a:prstGeom>
          <a:noFill/>
          <a:ln/>
        </p:spPr>
        <p:txBody>
          <a:bodyPr wrap="square" lIns="0" tIns="0" rIns="0" bIns="0" rtlCol="0" anchor="ctr"/>
          <a:lstStyle/>
          <a:p>
            <a:pPr algn="ctr" indent="0" marL="0">
              <a:buNone/>
            </a:pPr>
            <a:r>
              <a:rPr lang="en-US" sz="1800" b="1" dirty="0">
                <a:solidFill>
                  <a:srgbClr val="E37B27"/>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34440" y="1581912"/>
            <a:ext cx="9966960" cy="594360"/>
          </a:xfrm>
          <a:prstGeom prst="rect">
            <a:avLst/>
          </a:prstGeom>
          <a:noFill/>
          <a:ln/>
        </p:spPr>
        <p:txBody>
          <a:bodyPr wrap="square" lIns="0" tIns="0" rIns="0" bIns="0" rtlCol="0" anchor="ctr"/>
          <a:lstStyle/>
          <a:p>
            <a:pPr indent="0" marL="0">
              <a:lnSpc>
                <a:spcPct val="120000"/>
              </a:lnSpc>
              <a:buNone/>
            </a:pPr>
            <a:r>
              <a:rPr lang="en-US" sz="1450" dirty="0">
                <a:solidFill>
                  <a:srgbClr val="2C3E50"/>
                </a:solidFill>
                <a:latin typeface="Calibri" pitchFamily="34" charset="0"/>
                <a:ea typeface="Calibri" pitchFamily="34" charset="-122"/>
                <a:cs typeface="Calibri" pitchFamily="34" charset="-120"/>
              </a:rPr>
              <a:t>Design a normalized relational database to store product, supplier, warehouse and order data without redundancy.</a:t>
            </a:r>
            <a:endParaRPr lang="en-US" sz="1450" dirty="0"/>
          </a:p>
        </p:txBody>
      </p:sp>
      <p:sp>
        <p:nvSpPr>
          <p:cNvPr id="7" name="Shape 5"/>
          <p:cNvSpPr/>
          <p:nvPr/>
        </p:nvSpPr>
        <p:spPr>
          <a:xfrm>
            <a:off x="548640" y="2441448"/>
            <a:ext cx="502920" cy="502920"/>
          </a:xfrm>
          <a:prstGeom prst="ellipse">
            <a:avLst/>
          </a:prstGeom>
          <a:solidFill>
            <a:srgbClr val="1F2D3D"/>
          </a:solidFill>
          <a:ln/>
        </p:spPr>
      </p:sp>
      <p:sp>
        <p:nvSpPr>
          <p:cNvPr id="8" name="Text 6"/>
          <p:cNvSpPr/>
          <p:nvPr/>
        </p:nvSpPr>
        <p:spPr>
          <a:xfrm>
            <a:off x="548640" y="2441448"/>
            <a:ext cx="502920" cy="502920"/>
          </a:xfrm>
          <a:prstGeom prst="rect">
            <a:avLst/>
          </a:prstGeom>
          <a:noFill/>
          <a:ln/>
        </p:spPr>
        <p:txBody>
          <a:bodyPr wrap="square" lIns="0" tIns="0" rIns="0" bIns="0" rtlCol="0" anchor="ctr"/>
          <a:lstStyle/>
          <a:p>
            <a:pPr algn="ctr" indent="0" marL="0">
              <a:buNone/>
            </a:pPr>
            <a:r>
              <a:rPr lang="en-US" sz="1800" b="1" dirty="0">
                <a:solidFill>
                  <a:srgbClr val="E37B27"/>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234440" y="2423160"/>
            <a:ext cx="9966960" cy="594360"/>
          </a:xfrm>
          <a:prstGeom prst="rect">
            <a:avLst/>
          </a:prstGeom>
          <a:noFill/>
          <a:ln/>
        </p:spPr>
        <p:txBody>
          <a:bodyPr wrap="square" lIns="0" tIns="0" rIns="0" bIns="0" rtlCol="0" anchor="ctr"/>
          <a:lstStyle/>
          <a:p>
            <a:pPr indent="0" marL="0">
              <a:lnSpc>
                <a:spcPct val="120000"/>
              </a:lnSpc>
              <a:buNone/>
            </a:pPr>
            <a:r>
              <a:rPr lang="en-US" sz="1450" dirty="0">
                <a:solidFill>
                  <a:srgbClr val="2C3E50"/>
                </a:solidFill>
                <a:latin typeface="Calibri" pitchFamily="34" charset="0"/>
                <a:ea typeface="Calibri" pitchFamily="34" charset="-122"/>
                <a:cs typeface="Calibri" pitchFamily="34" charset="-120"/>
              </a:rPr>
              <a:t>Build a system to record every stock-in and stock-out transaction, keeping quantities accurate at all times.</a:t>
            </a:r>
            <a:endParaRPr lang="en-US" sz="1450" dirty="0"/>
          </a:p>
        </p:txBody>
      </p:sp>
      <p:sp>
        <p:nvSpPr>
          <p:cNvPr id="10" name="Shape 8"/>
          <p:cNvSpPr/>
          <p:nvPr/>
        </p:nvSpPr>
        <p:spPr>
          <a:xfrm>
            <a:off x="548640" y="3282696"/>
            <a:ext cx="502920" cy="502920"/>
          </a:xfrm>
          <a:prstGeom prst="ellipse">
            <a:avLst/>
          </a:prstGeom>
          <a:solidFill>
            <a:srgbClr val="1F2D3D"/>
          </a:solidFill>
          <a:ln/>
        </p:spPr>
      </p:sp>
      <p:sp>
        <p:nvSpPr>
          <p:cNvPr id="11" name="Text 9"/>
          <p:cNvSpPr/>
          <p:nvPr/>
        </p:nvSpPr>
        <p:spPr>
          <a:xfrm>
            <a:off x="548640" y="3282696"/>
            <a:ext cx="502920" cy="502920"/>
          </a:xfrm>
          <a:prstGeom prst="rect">
            <a:avLst/>
          </a:prstGeom>
          <a:noFill/>
          <a:ln/>
        </p:spPr>
        <p:txBody>
          <a:bodyPr wrap="square" lIns="0" tIns="0" rIns="0" bIns="0" rtlCol="0" anchor="ctr"/>
          <a:lstStyle/>
          <a:p>
            <a:pPr algn="ctr" indent="0" marL="0">
              <a:buNone/>
            </a:pPr>
            <a:r>
              <a:rPr lang="en-US" sz="1800" b="1" dirty="0">
                <a:solidFill>
                  <a:srgbClr val="E37B27"/>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234440" y="3264408"/>
            <a:ext cx="9966960" cy="594360"/>
          </a:xfrm>
          <a:prstGeom prst="rect">
            <a:avLst/>
          </a:prstGeom>
          <a:noFill/>
          <a:ln/>
        </p:spPr>
        <p:txBody>
          <a:bodyPr wrap="square" lIns="0" tIns="0" rIns="0" bIns="0" rtlCol="0" anchor="ctr"/>
          <a:lstStyle/>
          <a:p>
            <a:pPr indent="0" marL="0">
              <a:lnSpc>
                <a:spcPct val="120000"/>
              </a:lnSpc>
              <a:buNone/>
            </a:pPr>
            <a:r>
              <a:rPr lang="en-US" sz="1450" dirty="0">
                <a:solidFill>
                  <a:srgbClr val="2C3E50"/>
                </a:solidFill>
                <a:latin typeface="Calibri" pitchFamily="34" charset="0"/>
                <a:ea typeface="Calibri" pitchFamily="34" charset="-122"/>
                <a:cs typeface="Calibri" pitchFamily="34" charset="-120"/>
              </a:rPr>
              <a:t>Allow staff to search, add, update and remove product and supplier records quickly through simple forms.</a:t>
            </a:r>
            <a:endParaRPr lang="en-US" sz="1450" dirty="0"/>
          </a:p>
        </p:txBody>
      </p:sp>
      <p:sp>
        <p:nvSpPr>
          <p:cNvPr id="13" name="Shape 11"/>
          <p:cNvSpPr/>
          <p:nvPr/>
        </p:nvSpPr>
        <p:spPr>
          <a:xfrm>
            <a:off x="548640" y="4123944"/>
            <a:ext cx="502920" cy="502920"/>
          </a:xfrm>
          <a:prstGeom prst="ellipse">
            <a:avLst/>
          </a:prstGeom>
          <a:solidFill>
            <a:srgbClr val="1F2D3D"/>
          </a:solidFill>
          <a:ln/>
        </p:spPr>
      </p:sp>
      <p:sp>
        <p:nvSpPr>
          <p:cNvPr id="14" name="Text 12"/>
          <p:cNvSpPr/>
          <p:nvPr/>
        </p:nvSpPr>
        <p:spPr>
          <a:xfrm>
            <a:off x="548640" y="4123944"/>
            <a:ext cx="502920" cy="502920"/>
          </a:xfrm>
          <a:prstGeom prst="rect">
            <a:avLst/>
          </a:prstGeom>
          <a:noFill/>
          <a:ln/>
        </p:spPr>
        <p:txBody>
          <a:bodyPr wrap="square" lIns="0" tIns="0" rIns="0" bIns="0" rtlCol="0" anchor="ctr"/>
          <a:lstStyle/>
          <a:p>
            <a:pPr algn="ctr" indent="0" marL="0">
              <a:buNone/>
            </a:pPr>
            <a:r>
              <a:rPr lang="en-US" sz="1800" b="1" dirty="0">
                <a:solidFill>
                  <a:srgbClr val="E37B27"/>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234440" y="4105656"/>
            <a:ext cx="9966960" cy="594360"/>
          </a:xfrm>
          <a:prstGeom prst="rect">
            <a:avLst/>
          </a:prstGeom>
          <a:noFill/>
          <a:ln/>
        </p:spPr>
        <p:txBody>
          <a:bodyPr wrap="square" lIns="0" tIns="0" rIns="0" bIns="0" rtlCol="0" anchor="ctr"/>
          <a:lstStyle/>
          <a:p>
            <a:pPr indent="0" marL="0">
              <a:lnSpc>
                <a:spcPct val="120000"/>
              </a:lnSpc>
              <a:buNone/>
            </a:pPr>
            <a:r>
              <a:rPr lang="en-US" sz="1450" dirty="0">
                <a:solidFill>
                  <a:srgbClr val="2C3E50"/>
                </a:solidFill>
                <a:latin typeface="Calibri" pitchFamily="34" charset="0"/>
                <a:ea typeface="Calibri" pitchFamily="34" charset="-122"/>
                <a:cs typeface="Calibri" pitchFamily="34" charset="-120"/>
              </a:rPr>
              <a:t>Generate reports such as current stock, low-stock alerts and order history using SQL queries.</a:t>
            </a:r>
            <a:endParaRPr lang="en-US" sz="1450" dirty="0"/>
          </a:p>
        </p:txBody>
      </p:sp>
      <p:sp>
        <p:nvSpPr>
          <p:cNvPr id="16" name="Shape 14"/>
          <p:cNvSpPr/>
          <p:nvPr/>
        </p:nvSpPr>
        <p:spPr>
          <a:xfrm>
            <a:off x="548640" y="4965192"/>
            <a:ext cx="502920" cy="502920"/>
          </a:xfrm>
          <a:prstGeom prst="ellipse">
            <a:avLst/>
          </a:prstGeom>
          <a:solidFill>
            <a:srgbClr val="1F2D3D"/>
          </a:solidFill>
          <a:ln/>
        </p:spPr>
      </p:sp>
      <p:sp>
        <p:nvSpPr>
          <p:cNvPr id="17" name="Text 15"/>
          <p:cNvSpPr/>
          <p:nvPr/>
        </p:nvSpPr>
        <p:spPr>
          <a:xfrm>
            <a:off x="548640" y="4965192"/>
            <a:ext cx="502920" cy="502920"/>
          </a:xfrm>
          <a:prstGeom prst="rect">
            <a:avLst/>
          </a:prstGeom>
          <a:noFill/>
          <a:ln/>
        </p:spPr>
        <p:txBody>
          <a:bodyPr wrap="square" lIns="0" tIns="0" rIns="0" bIns="0" rtlCol="0" anchor="ctr"/>
          <a:lstStyle/>
          <a:p>
            <a:pPr algn="ctr" indent="0" marL="0">
              <a:buNone/>
            </a:pPr>
            <a:r>
              <a:rPr lang="en-US" sz="1800" b="1" dirty="0">
                <a:solidFill>
                  <a:srgbClr val="E37B27"/>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234440" y="4946904"/>
            <a:ext cx="9966960" cy="594360"/>
          </a:xfrm>
          <a:prstGeom prst="rect">
            <a:avLst/>
          </a:prstGeom>
          <a:noFill/>
          <a:ln/>
        </p:spPr>
        <p:txBody>
          <a:bodyPr wrap="square" lIns="0" tIns="0" rIns="0" bIns="0" rtlCol="0" anchor="ctr"/>
          <a:lstStyle/>
          <a:p>
            <a:pPr indent="0" marL="0">
              <a:lnSpc>
                <a:spcPct val="120000"/>
              </a:lnSpc>
              <a:buNone/>
            </a:pPr>
            <a:r>
              <a:rPr lang="en-US" sz="1450" dirty="0">
                <a:solidFill>
                  <a:srgbClr val="2C3E50"/>
                </a:solidFill>
                <a:latin typeface="Calibri" pitchFamily="34" charset="0"/>
                <a:ea typeface="Calibri" pitchFamily="34" charset="-122"/>
                <a:cs typeface="Calibri" pitchFamily="34" charset="-120"/>
              </a:rPr>
              <a:t>Provide role-based access so admins and staff see only what is relevant to their work.</a:t>
            </a:r>
            <a:endParaRPr lang="en-US" sz="1450" dirty="0"/>
          </a:p>
        </p:txBody>
      </p:sp>
      <p:sp>
        <p:nvSpPr>
          <p:cNvPr id="19" name="Text 17"/>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684"/>
                </a:solidFill>
                <a:latin typeface="Calibri" pitchFamily="34" charset="0"/>
                <a:ea typeface="Calibri" pitchFamily="34" charset="-122"/>
                <a:cs typeface="Calibri" pitchFamily="34" charset="-120"/>
              </a:rPr>
              <a:t>Inventory &amp; Warehouse Management System</a:t>
            </a:r>
            <a:endParaRPr lang="en-US" sz="900" dirty="0"/>
          </a:p>
        </p:txBody>
      </p:sp>
      <p:sp>
        <p:nvSpPr>
          <p:cNvPr id="20" name="Text 18"/>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E37B27"/>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indent="0" marL="0">
              <a:buNone/>
            </a:pPr>
            <a:r>
              <a:rPr lang="en-US" sz="3200" b="1" dirty="0">
                <a:solidFill>
                  <a:srgbClr val="1F2D3D"/>
                </a:solidFill>
                <a:latin typeface="Cambria" pitchFamily="34" charset="0"/>
                <a:ea typeface="Cambria" pitchFamily="34" charset="-122"/>
                <a:cs typeface="Cambria" pitchFamily="34" charset="-120"/>
              </a:rPr>
              <a:t>System Modules</a:t>
            </a:r>
            <a:endParaRPr lang="en-US" sz="3200" dirty="0"/>
          </a:p>
        </p:txBody>
      </p:sp>
      <p:sp>
        <p:nvSpPr>
          <p:cNvPr id="4" name="Shape 2"/>
          <p:cNvSpPr/>
          <p:nvPr/>
        </p:nvSpPr>
        <p:spPr>
          <a:xfrm>
            <a:off x="548640" y="1554480"/>
            <a:ext cx="3505200" cy="210312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5" name="Shape 3"/>
          <p:cNvSpPr/>
          <p:nvPr/>
        </p:nvSpPr>
        <p:spPr>
          <a:xfrm>
            <a:off x="777240" y="1783080"/>
            <a:ext cx="457200" cy="457200"/>
          </a:xfrm>
          <a:prstGeom prst="ellipse">
            <a:avLst/>
          </a:prstGeom>
          <a:solidFill>
            <a:srgbClr val="E37B27">
              <a:alpha val="85000"/>
            </a:srgbClr>
          </a:solidFill>
          <a:ln/>
        </p:spPr>
      </p:sp>
      <p:sp>
        <p:nvSpPr>
          <p:cNvPr id="6" name="Text 4"/>
          <p:cNvSpPr/>
          <p:nvPr/>
        </p:nvSpPr>
        <p:spPr>
          <a:xfrm>
            <a:off x="777240" y="1783080"/>
            <a:ext cx="457200" cy="457200"/>
          </a:xfrm>
          <a:prstGeom prst="rect">
            <a:avLst/>
          </a:prstGeom>
          <a:noFill/>
          <a:ln/>
        </p:spPr>
        <p:txBody>
          <a:bodyPr wrap="square" lIns="0" tIns="0" rIns="0" bIns="0" rtlCol="0" anchor="ctr"/>
          <a:lstStyle/>
          <a:p>
            <a:pPr algn="ctr" indent="0" marL="0">
              <a:buNone/>
            </a:pPr>
            <a:r>
              <a:rPr lang="en-US" sz="1600" b="1" dirty="0">
                <a:solidFill>
                  <a:srgbClr val="1F2D3D"/>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777240" y="2377440"/>
            <a:ext cx="3048000" cy="45720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User Management</a:t>
            </a:r>
            <a:endParaRPr lang="en-US" sz="1350" dirty="0"/>
          </a:p>
        </p:txBody>
      </p:sp>
      <p:sp>
        <p:nvSpPr>
          <p:cNvPr id="8" name="Text 6"/>
          <p:cNvSpPr/>
          <p:nvPr/>
        </p:nvSpPr>
        <p:spPr>
          <a:xfrm>
            <a:off x="777240" y="2816352"/>
            <a:ext cx="3048000" cy="731520"/>
          </a:xfrm>
          <a:prstGeom prst="rect">
            <a:avLst/>
          </a:prstGeom>
          <a:noFill/>
          <a:ln/>
        </p:spPr>
        <p:txBody>
          <a:bodyPr wrap="square" lIns="0" tIns="0" rIns="0" bIns="0" rtlCol="0" anchor="ctr"/>
          <a:lstStyle/>
          <a:p>
            <a:pPr indent="0" marL="0">
              <a:lnSpc>
                <a:spcPct val="122000"/>
              </a:lnSpc>
              <a:buNone/>
            </a:pPr>
            <a:r>
              <a:rPr lang="en-US" sz="1080" dirty="0">
                <a:solidFill>
                  <a:srgbClr val="6B7684"/>
                </a:solidFill>
                <a:latin typeface="Calibri" pitchFamily="34" charset="0"/>
                <a:ea typeface="Calibri" pitchFamily="34" charset="-122"/>
                <a:cs typeface="Calibri" pitchFamily="34" charset="-120"/>
              </a:rPr>
              <a:t>Login for Admin and Staff, with role-based access to different features.</a:t>
            </a:r>
            <a:endParaRPr lang="en-US" sz="1080" dirty="0"/>
          </a:p>
        </p:txBody>
      </p:sp>
      <p:sp>
        <p:nvSpPr>
          <p:cNvPr id="9" name="Shape 7"/>
          <p:cNvSpPr/>
          <p:nvPr/>
        </p:nvSpPr>
        <p:spPr>
          <a:xfrm>
            <a:off x="4328160" y="1554480"/>
            <a:ext cx="3505200" cy="210312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10" name="Shape 8"/>
          <p:cNvSpPr/>
          <p:nvPr/>
        </p:nvSpPr>
        <p:spPr>
          <a:xfrm>
            <a:off x="4556760" y="1783080"/>
            <a:ext cx="457200" cy="457200"/>
          </a:xfrm>
          <a:prstGeom prst="ellipse">
            <a:avLst/>
          </a:prstGeom>
          <a:solidFill>
            <a:srgbClr val="E37B27">
              <a:alpha val="85000"/>
            </a:srgbClr>
          </a:solidFill>
          <a:ln/>
        </p:spPr>
      </p:sp>
      <p:sp>
        <p:nvSpPr>
          <p:cNvPr id="11" name="Text 9"/>
          <p:cNvSpPr/>
          <p:nvPr/>
        </p:nvSpPr>
        <p:spPr>
          <a:xfrm>
            <a:off x="4556760" y="1783080"/>
            <a:ext cx="457200" cy="457200"/>
          </a:xfrm>
          <a:prstGeom prst="rect">
            <a:avLst/>
          </a:prstGeom>
          <a:noFill/>
          <a:ln/>
        </p:spPr>
        <p:txBody>
          <a:bodyPr wrap="square" lIns="0" tIns="0" rIns="0" bIns="0" rtlCol="0" anchor="ctr"/>
          <a:lstStyle/>
          <a:p>
            <a:pPr algn="ctr" indent="0" marL="0">
              <a:buNone/>
            </a:pPr>
            <a:r>
              <a:rPr lang="en-US" sz="1600" b="1" dirty="0">
                <a:solidFill>
                  <a:srgbClr val="1F2D3D"/>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4556760" y="2377440"/>
            <a:ext cx="3048000" cy="45720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Product Management</a:t>
            </a:r>
            <a:endParaRPr lang="en-US" sz="1350" dirty="0"/>
          </a:p>
        </p:txBody>
      </p:sp>
      <p:sp>
        <p:nvSpPr>
          <p:cNvPr id="13" name="Text 11"/>
          <p:cNvSpPr/>
          <p:nvPr/>
        </p:nvSpPr>
        <p:spPr>
          <a:xfrm>
            <a:off x="4556760" y="2816352"/>
            <a:ext cx="3048000" cy="731520"/>
          </a:xfrm>
          <a:prstGeom prst="rect">
            <a:avLst/>
          </a:prstGeom>
          <a:noFill/>
          <a:ln/>
        </p:spPr>
        <p:txBody>
          <a:bodyPr wrap="square" lIns="0" tIns="0" rIns="0" bIns="0" rtlCol="0" anchor="ctr"/>
          <a:lstStyle/>
          <a:p>
            <a:pPr indent="0" marL="0">
              <a:lnSpc>
                <a:spcPct val="122000"/>
              </a:lnSpc>
              <a:buNone/>
            </a:pPr>
            <a:r>
              <a:rPr lang="en-US" sz="1080" dirty="0">
                <a:solidFill>
                  <a:srgbClr val="6B7684"/>
                </a:solidFill>
                <a:latin typeface="Calibri" pitchFamily="34" charset="0"/>
                <a:ea typeface="Calibri" pitchFamily="34" charset="-122"/>
                <a:cs typeface="Calibri" pitchFamily="34" charset="-120"/>
              </a:rPr>
              <a:t>Add, edit and categorise products; each item has a unique product ID and SKU code.</a:t>
            </a:r>
            <a:endParaRPr lang="en-US" sz="1080" dirty="0"/>
          </a:p>
        </p:txBody>
      </p:sp>
      <p:sp>
        <p:nvSpPr>
          <p:cNvPr id="14" name="Shape 12"/>
          <p:cNvSpPr/>
          <p:nvPr/>
        </p:nvSpPr>
        <p:spPr>
          <a:xfrm>
            <a:off x="8107680" y="1554480"/>
            <a:ext cx="3505200" cy="210312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15" name="Shape 13"/>
          <p:cNvSpPr/>
          <p:nvPr/>
        </p:nvSpPr>
        <p:spPr>
          <a:xfrm>
            <a:off x="8336280" y="1783080"/>
            <a:ext cx="457200" cy="457200"/>
          </a:xfrm>
          <a:prstGeom prst="ellipse">
            <a:avLst/>
          </a:prstGeom>
          <a:solidFill>
            <a:srgbClr val="E37B27">
              <a:alpha val="85000"/>
            </a:srgbClr>
          </a:solidFill>
          <a:ln/>
        </p:spPr>
      </p:sp>
      <p:sp>
        <p:nvSpPr>
          <p:cNvPr id="16" name="Text 14"/>
          <p:cNvSpPr/>
          <p:nvPr/>
        </p:nvSpPr>
        <p:spPr>
          <a:xfrm>
            <a:off x="8336280" y="1783080"/>
            <a:ext cx="457200" cy="457200"/>
          </a:xfrm>
          <a:prstGeom prst="rect">
            <a:avLst/>
          </a:prstGeom>
          <a:noFill/>
          <a:ln/>
        </p:spPr>
        <p:txBody>
          <a:bodyPr wrap="square" lIns="0" tIns="0" rIns="0" bIns="0" rtlCol="0" anchor="ctr"/>
          <a:lstStyle/>
          <a:p>
            <a:pPr algn="ctr" indent="0" marL="0">
              <a:buNone/>
            </a:pPr>
            <a:r>
              <a:rPr lang="en-US" sz="1600" b="1" dirty="0">
                <a:solidFill>
                  <a:srgbClr val="1F2D3D"/>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8336280" y="2377440"/>
            <a:ext cx="3048000" cy="45720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Supplier Management</a:t>
            </a:r>
            <a:endParaRPr lang="en-US" sz="1350" dirty="0"/>
          </a:p>
        </p:txBody>
      </p:sp>
      <p:sp>
        <p:nvSpPr>
          <p:cNvPr id="18" name="Text 16"/>
          <p:cNvSpPr/>
          <p:nvPr/>
        </p:nvSpPr>
        <p:spPr>
          <a:xfrm>
            <a:off x="8336280" y="2816352"/>
            <a:ext cx="3048000" cy="731520"/>
          </a:xfrm>
          <a:prstGeom prst="rect">
            <a:avLst/>
          </a:prstGeom>
          <a:noFill/>
          <a:ln/>
        </p:spPr>
        <p:txBody>
          <a:bodyPr wrap="square" lIns="0" tIns="0" rIns="0" bIns="0" rtlCol="0" anchor="ctr"/>
          <a:lstStyle/>
          <a:p>
            <a:pPr indent="0" marL="0">
              <a:lnSpc>
                <a:spcPct val="122000"/>
              </a:lnSpc>
              <a:buNone/>
            </a:pPr>
            <a:r>
              <a:rPr lang="en-US" sz="1080" dirty="0">
                <a:solidFill>
                  <a:srgbClr val="6B7684"/>
                </a:solidFill>
                <a:latin typeface="Calibri" pitchFamily="34" charset="0"/>
                <a:ea typeface="Calibri" pitchFamily="34" charset="-122"/>
                <a:cs typeface="Calibri" pitchFamily="34" charset="-120"/>
              </a:rPr>
              <a:t>Stores supplier contact details and links every product batch to its supplier.</a:t>
            </a:r>
            <a:endParaRPr lang="en-US" sz="1080" dirty="0"/>
          </a:p>
        </p:txBody>
      </p:sp>
      <p:sp>
        <p:nvSpPr>
          <p:cNvPr id="19" name="Shape 17"/>
          <p:cNvSpPr/>
          <p:nvPr/>
        </p:nvSpPr>
        <p:spPr>
          <a:xfrm>
            <a:off x="548640" y="3931920"/>
            <a:ext cx="3505200" cy="210312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20" name="Shape 18"/>
          <p:cNvSpPr/>
          <p:nvPr/>
        </p:nvSpPr>
        <p:spPr>
          <a:xfrm>
            <a:off x="777240" y="4160520"/>
            <a:ext cx="457200" cy="457200"/>
          </a:xfrm>
          <a:prstGeom prst="ellipse">
            <a:avLst/>
          </a:prstGeom>
          <a:solidFill>
            <a:srgbClr val="E37B27">
              <a:alpha val="85000"/>
            </a:srgbClr>
          </a:solidFill>
          <a:ln/>
        </p:spPr>
      </p:sp>
      <p:sp>
        <p:nvSpPr>
          <p:cNvPr id="21" name="Text 19"/>
          <p:cNvSpPr/>
          <p:nvPr/>
        </p:nvSpPr>
        <p:spPr>
          <a:xfrm>
            <a:off x="777240" y="4160520"/>
            <a:ext cx="457200" cy="457200"/>
          </a:xfrm>
          <a:prstGeom prst="rect">
            <a:avLst/>
          </a:prstGeom>
          <a:noFill/>
          <a:ln/>
        </p:spPr>
        <p:txBody>
          <a:bodyPr wrap="square" lIns="0" tIns="0" rIns="0" bIns="0" rtlCol="0" anchor="ctr"/>
          <a:lstStyle/>
          <a:p>
            <a:pPr algn="ctr" indent="0" marL="0">
              <a:buNone/>
            </a:pPr>
            <a:r>
              <a:rPr lang="en-US" sz="1600" b="1" dirty="0">
                <a:solidFill>
                  <a:srgbClr val="1F2D3D"/>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77240" y="4754880"/>
            <a:ext cx="3048000" cy="45720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Stock / Warehouse Management</a:t>
            </a:r>
            <a:endParaRPr lang="en-US" sz="1350" dirty="0"/>
          </a:p>
        </p:txBody>
      </p:sp>
      <p:sp>
        <p:nvSpPr>
          <p:cNvPr id="23" name="Text 21"/>
          <p:cNvSpPr/>
          <p:nvPr/>
        </p:nvSpPr>
        <p:spPr>
          <a:xfrm>
            <a:off x="777240" y="5193792"/>
            <a:ext cx="3048000" cy="731520"/>
          </a:xfrm>
          <a:prstGeom prst="rect">
            <a:avLst/>
          </a:prstGeom>
          <a:noFill/>
          <a:ln/>
        </p:spPr>
        <p:txBody>
          <a:bodyPr wrap="square" lIns="0" tIns="0" rIns="0" bIns="0" rtlCol="0" anchor="ctr"/>
          <a:lstStyle/>
          <a:p>
            <a:pPr indent="0" marL="0">
              <a:lnSpc>
                <a:spcPct val="122000"/>
              </a:lnSpc>
              <a:buNone/>
            </a:pPr>
            <a:r>
              <a:rPr lang="en-US" sz="1080" dirty="0">
                <a:solidFill>
                  <a:srgbClr val="6B7684"/>
                </a:solidFill>
                <a:latin typeface="Calibri" pitchFamily="34" charset="0"/>
                <a:ea typeface="Calibri" pitchFamily="34" charset="-122"/>
                <a:cs typeface="Calibri" pitchFamily="34" charset="-120"/>
              </a:rPr>
              <a:t>Tracks quantity of each product in every warehouse location, updated on every transaction.</a:t>
            </a:r>
            <a:endParaRPr lang="en-US" sz="1080" dirty="0"/>
          </a:p>
        </p:txBody>
      </p:sp>
      <p:sp>
        <p:nvSpPr>
          <p:cNvPr id="24" name="Shape 22"/>
          <p:cNvSpPr/>
          <p:nvPr/>
        </p:nvSpPr>
        <p:spPr>
          <a:xfrm>
            <a:off x="4328160" y="3931920"/>
            <a:ext cx="3505200" cy="210312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25" name="Shape 23"/>
          <p:cNvSpPr/>
          <p:nvPr/>
        </p:nvSpPr>
        <p:spPr>
          <a:xfrm>
            <a:off x="4556760" y="4160520"/>
            <a:ext cx="457200" cy="457200"/>
          </a:xfrm>
          <a:prstGeom prst="ellipse">
            <a:avLst/>
          </a:prstGeom>
          <a:solidFill>
            <a:srgbClr val="E37B27">
              <a:alpha val="85000"/>
            </a:srgbClr>
          </a:solidFill>
          <a:ln/>
        </p:spPr>
      </p:sp>
      <p:sp>
        <p:nvSpPr>
          <p:cNvPr id="26" name="Text 24"/>
          <p:cNvSpPr/>
          <p:nvPr/>
        </p:nvSpPr>
        <p:spPr>
          <a:xfrm>
            <a:off x="4556760" y="4160520"/>
            <a:ext cx="457200" cy="457200"/>
          </a:xfrm>
          <a:prstGeom prst="rect">
            <a:avLst/>
          </a:prstGeom>
          <a:noFill/>
          <a:ln/>
        </p:spPr>
        <p:txBody>
          <a:bodyPr wrap="square" lIns="0" tIns="0" rIns="0" bIns="0" rtlCol="0" anchor="ctr"/>
          <a:lstStyle/>
          <a:p>
            <a:pPr algn="ctr" indent="0" marL="0">
              <a:buNone/>
            </a:pPr>
            <a:r>
              <a:rPr lang="en-US" sz="1600" b="1" dirty="0">
                <a:solidFill>
                  <a:srgbClr val="1F2D3D"/>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4556760" y="4754880"/>
            <a:ext cx="3048000" cy="45720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Order Management</a:t>
            </a:r>
            <a:endParaRPr lang="en-US" sz="1350" dirty="0"/>
          </a:p>
        </p:txBody>
      </p:sp>
      <p:sp>
        <p:nvSpPr>
          <p:cNvPr id="28" name="Text 26"/>
          <p:cNvSpPr/>
          <p:nvPr/>
        </p:nvSpPr>
        <p:spPr>
          <a:xfrm>
            <a:off x="4556760" y="5193792"/>
            <a:ext cx="3048000" cy="731520"/>
          </a:xfrm>
          <a:prstGeom prst="rect">
            <a:avLst/>
          </a:prstGeom>
          <a:noFill/>
          <a:ln/>
        </p:spPr>
        <p:txBody>
          <a:bodyPr wrap="square" lIns="0" tIns="0" rIns="0" bIns="0" rtlCol="0" anchor="ctr"/>
          <a:lstStyle/>
          <a:p>
            <a:pPr indent="0" marL="0">
              <a:lnSpc>
                <a:spcPct val="122000"/>
              </a:lnSpc>
              <a:buNone/>
            </a:pPr>
            <a:r>
              <a:rPr lang="en-US" sz="1080" dirty="0">
                <a:solidFill>
                  <a:srgbClr val="6B7684"/>
                </a:solidFill>
                <a:latin typeface="Calibri" pitchFamily="34" charset="0"/>
                <a:ea typeface="Calibri" pitchFamily="34" charset="-122"/>
                <a:cs typeface="Calibri" pitchFamily="34" charset="-120"/>
              </a:rPr>
              <a:t>Handles purchase orders (stock coming in) and sales orders (stock going out).</a:t>
            </a:r>
            <a:endParaRPr lang="en-US" sz="1080" dirty="0"/>
          </a:p>
        </p:txBody>
      </p:sp>
      <p:sp>
        <p:nvSpPr>
          <p:cNvPr id="29" name="Shape 27"/>
          <p:cNvSpPr/>
          <p:nvPr/>
        </p:nvSpPr>
        <p:spPr>
          <a:xfrm>
            <a:off x="8107680" y="3931920"/>
            <a:ext cx="3505200" cy="2103120"/>
          </a:xfrm>
          <a:prstGeom prst="rect">
            <a:avLst/>
          </a:prstGeom>
          <a:solidFill>
            <a:srgbClr val="FFFFFF"/>
          </a:solidFill>
          <a:ln w="12700">
            <a:solidFill>
              <a:srgbClr val="E1E4E8"/>
            </a:solidFill>
            <a:prstDash val="solid"/>
          </a:ln>
          <a:effectLst>
            <a:outerShdw sx="100000" sy="100000" kx="0" ky="0" algn="bl" rotWithShape="0" blurRad="63500" dist="25400" dir="5400000">
              <a:srgbClr val="1F2D3D">
                <a:alpha val="10000"/>
              </a:srgbClr>
            </a:outerShdw>
          </a:effectLst>
        </p:spPr>
      </p:sp>
      <p:sp>
        <p:nvSpPr>
          <p:cNvPr id="30" name="Shape 28"/>
          <p:cNvSpPr/>
          <p:nvPr/>
        </p:nvSpPr>
        <p:spPr>
          <a:xfrm>
            <a:off x="8336280" y="4160520"/>
            <a:ext cx="457200" cy="457200"/>
          </a:xfrm>
          <a:prstGeom prst="ellipse">
            <a:avLst/>
          </a:prstGeom>
          <a:solidFill>
            <a:srgbClr val="E37B27">
              <a:alpha val="85000"/>
            </a:srgbClr>
          </a:solidFill>
          <a:ln/>
        </p:spPr>
      </p:sp>
      <p:sp>
        <p:nvSpPr>
          <p:cNvPr id="31" name="Text 29"/>
          <p:cNvSpPr/>
          <p:nvPr/>
        </p:nvSpPr>
        <p:spPr>
          <a:xfrm>
            <a:off x="8336280" y="4160520"/>
            <a:ext cx="457200" cy="457200"/>
          </a:xfrm>
          <a:prstGeom prst="rect">
            <a:avLst/>
          </a:prstGeom>
          <a:noFill/>
          <a:ln/>
        </p:spPr>
        <p:txBody>
          <a:bodyPr wrap="square" lIns="0" tIns="0" rIns="0" bIns="0" rtlCol="0" anchor="ctr"/>
          <a:lstStyle/>
          <a:p>
            <a:pPr algn="ctr" indent="0" marL="0">
              <a:buNone/>
            </a:pPr>
            <a:r>
              <a:rPr lang="en-US" sz="1600" b="1" dirty="0">
                <a:solidFill>
                  <a:srgbClr val="1F2D3D"/>
                </a:solidFill>
                <a:latin typeface="Cambria" pitchFamily="34" charset="0"/>
                <a:ea typeface="Cambria" pitchFamily="34" charset="-122"/>
                <a:cs typeface="Cambria" pitchFamily="34" charset="-120"/>
              </a:rPr>
              <a:t>6</a:t>
            </a:r>
            <a:endParaRPr lang="en-US" sz="1600" dirty="0"/>
          </a:p>
        </p:txBody>
      </p:sp>
      <p:sp>
        <p:nvSpPr>
          <p:cNvPr id="32" name="Text 30"/>
          <p:cNvSpPr/>
          <p:nvPr/>
        </p:nvSpPr>
        <p:spPr>
          <a:xfrm>
            <a:off x="8336280" y="4754880"/>
            <a:ext cx="3048000" cy="457200"/>
          </a:xfrm>
          <a:prstGeom prst="rect">
            <a:avLst/>
          </a:prstGeom>
          <a:noFill/>
          <a:ln/>
        </p:spPr>
        <p:txBody>
          <a:bodyPr wrap="square" lIns="0" tIns="0" rIns="0" bIns="0" rtlCol="0" anchor="ctr"/>
          <a:lstStyle/>
          <a:p>
            <a:pPr indent="0" marL="0">
              <a:buNone/>
            </a:pPr>
            <a:r>
              <a:rPr lang="en-US" sz="1350" b="1" dirty="0">
                <a:solidFill>
                  <a:srgbClr val="1F2D3D"/>
                </a:solidFill>
                <a:latin typeface="Calibri" pitchFamily="34" charset="0"/>
                <a:ea typeface="Calibri" pitchFamily="34" charset="-122"/>
                <a:cs typeface="Calibri" pitchFamily="34" charset="-120"/>
              </a:rPr>
              <a:t>Reports &amp; Alerts</a:t>
            </a:r>
            <a:endParaRPr lang="en-US" sz="1350" dirty="0"/>
          </a:p>
        </p:txBody>
      </p:sp>
      <p:sp>
        <p:nvSpPr>
          <p:cNvPr id="33" name="Text 31"/>
          <p:cNvSpPr/>
          <p:nvPr/>
        </p:nvSpPr>
        <p:spPr>
          <a:xfrm>
            <a:off x="8336280" y="5193792"/>
            <a:ext cx="3048000" cy="731520"/>
          </a:xfrm>
          <a:prstGeom prst="rect">
            <a:avLst/>
          </a:prstGeom>
          <a:noFill/>
          <a:ln/>
        </p:spPr>
        <p:txBody>
          <a:bodyPr wrap="square" lIns="0" tIns="0" rIns="0" bIns="0" rtlCol="0" anchor="ctr"/>
          <a:lstStyle/>
          <a:p>
            <a:pPr indent="0" marL="0">
              <a:lnSpc>
                <a:spcPct val="122000"/>
              </a:lnSpc>
              <a:buNone/>
            </a:pPr>
            <a:r>
              <a:rPr lang="en-US" sz="1080" dirty="0">
                <a:solidFill>
                  <a:srgbClr val="6B7684"/>
                </a:solidFill>
                <a:latin typeface="Calibri" pitchFamily="34" charset="0"/>
                <a:ea typeface="Calibri" pitchFamily="34" charset="-122"/>
                <a:cs typeface="Calibri" pitchFamily="34" charset="-120"/>
              </a:rPr>
              <a:t>Generates stock summary reports and automatic low-stock alerts using SQL queries.</a:t>
            </a:r>
            <a:endParaRPr lang="en-US" sz="1080" dirty="0"/>
          </a:p>
        </p:txBody>
      </p:sp>
      <p:sp>
        <p:nvSpPr>
          <p:cNvPr id="34" name="Text 3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684"/>
                </a:solidFill>
                <a:latin typeface="Calibri" pitchFamily="34" charset="0"/>
                <a:ea typeface="Calibri" pitchFamily="34" charset="-122"/>
                <a:cs typeface="Calibri" pitchFamily="34" charset="-120"/>
              </a:rPr>
              <a:t>Inventory &amp; Warehouse Management System</a:t>
            </a:r>
            <a:endParaRPr lang="en-US" sz="900" dirty="0"/>
          </a:p>
        </p:txBody>
      </p:sp>
      <p:sp>
        <p:nvSpPr>
          <p:cNvPr id="35" name="Text 33"/>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E37B27"/>
                </a:solidFill>
                <a:latin typeface="Calibri" pitchFamily="34" charset="0"/>
                <a:ea typeface="Calibri" pitchFamily="34" charset="-122"/>
                <a:cs typeface="Calibri" pitchFamily="34" charset="-120"/>
              </a:rPr>
              <a:t>ENTITY RELATIONSHIPS</a:t>
            </a:r>
            <a:endParaRPr lang="en-US" sz="12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indent="0" marL="0">
              <a:buNone/>
            </a:pPr>
            <a:r>
              <a:rPr lang="en-US" sz="3200" b="1" dirty="0">
                <a:solidFill>
                  <a:srgbClr val="1F2D3D"/>
                </a:solidFill>
                <a:latin typeface="Cambria" pitchFamily="34" charset="0"/>
                <a:ea typeface="Cambria" pitchFamily="34" charset="-122"/>
                <a:cs typeface="Cambria" pitchFamily="34" charset="-120"/>
              </a:rPr>
              <a:t>Database Design</a:t>
            </a:r>
            <a:endParaRPr lang="en-US" sz="3200" dirty="0"/>
          </a:p>
        </p:txBody>
      </p:sp>
      <p:sp>
        <p:nvSpPr>
          <p:cNvPr id="4" name="Text 2"/>
          <p:cNvSpPr/>
          <p:nvPr/>
        </p:nvSpPr>
        <p:spPr>
          <a:xfrm>
            <a:off x="548640" y="1463040"/>
            <a:ext cx="10515600" cy="594360"/>
          </a:xfrm>
          <a:prstGeom prst="rect">
            <a:avLst/>
          </a:prstGeom>
          <a:noFill/>
          <a:ln/>
        </p:spPr>
        <p:txBody>
          <a:bodyPr wrap="square" lIns="0" tIns="0" rIns="0" bIns="0" rtlCol="0" anchor="ctr"/>
          <a:lstStyle/>
          <a:p>
            <a:pPr indent="0" marL="0">
              <a:lnSpc>
                <a:spcPct val="125000"/>
              </a:lnSpc>
              <a:buNone/>
            </a:pPr>
            <a:r>
              <a:rPr lang="en-US" sz="1350" dirty="0">
                <a:solidFill>
                  <a:srgbClr val="2C3E50"/>
                </a:solidFill>
                <a:latin typeface="Calibri" pitchFamily="34" charset="0"/>
                <a:ea typeface="Calibri" pitchFamily="34" charset="-122"/>
                <a:cs typeface="Calibri" pitchFamily="34" charset="-120"/>
              </a:rPr>
              <a:t>The database is built around these key tables. Primary keys uniquely identify each record and foreign keys connect related tables — this is what keeps the data consistent and avoids duplication.</a:t>
            </a:r>
            <a:endParaRPr lang="en-US" sz="1350" dirty="0"/>
          </a:p>
        </p:txBody>
      </p:sp>
      <p:sp>
        <p:nvSpPr>
          <p:cNvPr id="5" name="Shape 3"/>
          <p:cNvSpPr/>
          <p:nvPr/>
        </p:nvSpPr>
        <p:spPr>
          <a:xfrm>
            <a:off x="548640" y="2331720"/>
            <a:ext cx="2468880" cy="457200"/>
          </a:xfrm>
          <a:prstGeom prst="rect">
            <a:avLst/>
          </a:prstGeom>
          <a:solidFill>
            <a:srgbClr val="1F2D3D"/>
          </a:solidFill>
          <a:ln/>
        </p:spPr>
      </p:sp>
      <p:sp>
        <p:nvSpPr>
          <p:cNvPr id="6" name="Text 4"/>
          <p:cNvSpPr/>
          <p:nvPr/>
        </p:nvSpPr>
        <p:spPr>
          <a:xfrm>
            <a:off x="548640" y="2331720"/>
            <a:ext cx="24688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SUPPLIER</a:t>
            </a:r>
            <a:endParaRPr lang="en-US" sz="1250" dirty="0"/>
          </a:p>
        </p:txBody>
      </p:sp>
      <p:sp>
        <p:nvSpPr>
          <p:cNvPr id="7" name="Shape 5"/>
          <p:cNvSpPr/>
          <p:nvPr/>
        </p:nvSpPr>
        <p:spPr>
          <a:xfrm>
            <a:off x="548640" y="2788920"/>
            <a:ext cx="2468880" cy="1243584"/>
          </a:xfrm>
          <a:prstGeom prst="rect">
            <a:avLst/>
          </a:prstGeom>
          <a:solidFill>
            <a:srgbClr val="FFFFFF"/>
          </a:solidFill>
          <a:ln w="12700">
            <a:solidFill>
              <a:srgbClr val="D8DCE1"/>
            </a:solidFill>
            <a:prstDash val="solid"/>
          </a:ln>
        </p:spPr>
      </p:sp>
      <p:sp>
        <p:nvSpPr>
          <p:cNvPr id="8" name="Text 6"/>
          <p:cNvSpPr/>
          <p:nvPr/>
        </p:nvSpPr>
        <p:spPr>
          <a:xfrm>
            <a:off x="685800" y="2788920"/>
            <a:ext cx="2194560" cy="310896"/>
          </a:xfrm>
          <a:prstGeom prst="rect">
            <a:avLst/>
          </a:prstGeom>
          <a:noFill/>
          <a:ln/>
        </p:spPr>
        <p:txBody>
          <a:bodyPr wrap="square" lIns="0" tIns="0" rIns="0" bIns="0" rtlCol="0" anchor="ctr"/>
          <a:lstStyle/>
          <a:p>
            <a:pPr indent="0" marL="0">
              <a:buNone/>
            </a:pPr>
            <a:r>
              <a:rPr lang="en-US" sz="1000" b="1" dirty="0">
                <a:solidFill>
                  <a:srgbClr val="E37B27"/>
                </a:solidFill>
                <a:latin typeface="Calibri" pitchFamily="34" charset="0"/>
                <a:ea typeface="Calibri" pitchFamily="34" charset="-122"/>
                <a:cs typeface="Calibri" pitchFamily="34" charset="-120"/>
              </a:rPr>
              <a:t>SupplierID (PK)</a:t>
            </a:r>
            <a:endParaRPr lang="en-US" sz="1000" dirty="0"/>
          </a:p>
        </p:txBody>
      </p:sp>
      <p:sp>
        <p:nvSpPr>
          <p:cNvPr id="9" name="Text 7"/>
          <p:cNvSpPr/>
          <p:nvPr/>
        </p:nvSpPr>
        <p:spPr>
          <a:xfrm>
            <a:off x="685800" y="3099816"/>
            <a:ext cx="219456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Name</a:t>
            </a:r>
            <a:endParaRPr lang="en-US" sz="1000" dirty="0"/>
          </a:p>
        </p:txBody>
      </p:sp>
      <p:sp>
        <p:nvSpPr>
          <p:cNvPr id="10" name="Text 8"/>
          <p:cNvSpPr/>
          <p:nvPr/>
        </p:nvSpPr>
        <p:spPr>
          <a:xfrm>
            <a:off x="685800" y="3410712"/>
            <a:ext cx="219456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Phone</a:t>
            </a:r>
            <a:endParaRPr lang="en-US" sz="1000" dirty="0"/>
          </a:p>
        </p:txBody>
      </p:sp>
      <p:sp>
        <p:nvSpPr>
          <p:cNvPr id="11" name="Text 9"/>
          <p:cNvSpPr/>
          <p:nvPr/>
        </p:nvSpPr>
        <p:spPr>
          <a:xfrm>
            <a:off x="685800" y="3721608"/>
            <a:ext cx="219456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Address</a:t>
            </a:r>
            <a:endParaRPr lang="en-US" sz="1000" dirty="0"/>
          </a:p>
        </p:txBody>
      </p:sp>
      <p:sp>
        <p:nvSpPr>
          <p:cNvPr id="12" name="Shape 10"/>
          <p:cNvSpPr/>
          <p:nvPr/>
        </p:nvSpPr>
        <p:spPr>
          <a:xfrm>
            <a:off x="3383280" y="2331720"/>
            <a:ext cx="2880360" cy="457200"/>
          </a:xfrm>
          <a:prstGeom prst="rect">
            <a:avLst/>
          </a:prstGeom>
          <a:solidFill>
            <a:srgbClr val="1F2D3D"/>
          </a:solidFill>
          <a:ln/>
        </p:spPr>
      </p:sp>
      <p:sp>
        <p:nvSpPr>
          <p:cNvPr id="13" name="Text 11"/>
          <p:cNvSpPr/>
          <p:nvPr/>
        </p:nvSpPr>
        <p:spPr>
          <a:xfrm>
            <a:off x="3383280" y="2331720"/>
            <a:ext cx="28803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p>
        </p:txBody>
      </p:sp>
      <p:sp>
        <p:nvSpPr>
          <p:cNvPr id="14" name="Shape 12"/>
          <p:cNvSpPr/>
          <p:nvPr/>
        </p:nvSpPr>
        <p:spPr>
          <a:xfrm>
            <a:off x="3383280" y="2788920"/>
            <a:ext cx="2880360" cy="1554480"/>
          </a:xfrm>
          <a:prstGeom prst="rect">
            <a:avLst/>
          </a:prstGeom>
          <a:solidFill>
            <a:srgbClr val="FFFFFF"/>
          </a:solidFill>
          <a:ln w="12700">
            <a:solidFill>
              <a:srgbClr val="D8DCE1"/>
            </a:solidFill>
            <a:prstDash val="solid"/>
          </a:ln>
        </p:spPr>
      </p:sp>
      <p:sp>
        <p:nvSpPr>
          <p:cNvPr id="15" name="Text 13"/>
          <p:cNvSpPr/>
          <p:nvPr/>
        </p:nvSpPr>
        <p:spPr>
          <a:xfrm>
            <a:off x="3520440" y="2788920"/>
            <a:ext cx="2606040" cy="310896"/>
          </a:xfrm>
          <a:prstGeom prst="rect">
            <a:avLst/>
          </a:prstGeom>
          <a:noFill/>
          <a:ln/>
        </p:spPr>
        <p:txBody>
          <a:bodyPr wrap="square" lIns="0" tIns="0" rIns="0" bIns="0" rtlCol="0" anchor="ctr"/>
          <a:lstStyle/>
          <a:p>
            <a:pPr indent="0" marL="0">
              <a:buNone/>
            </a:pPr>
            <a:r>
              <a:rPr lang="en-US" sz="1000" b="1" dirty="0">
                <a:solidFill>
                  <a:srgbClr val="E37B27"/>
                </a:solidFill>
                <a:latin typeface="Calibri" pitchFamily="34" charset="0"/>
                <a:ea typeface="Calibri" pitchFamily="34" charset="-122"/>
                <a:cs typeface="Calibri" pitchFamily="34" charset="-120"/>
              </a:rPr>
              <a:t>ProductID (PK)</a:t>
            </a:r>
            <a:endParaRPr lang="en-US" sz="1000" dirty="0"/>
          </a:p>
        </p:txBody>
      </p:sp>
      <p:sp>
        <p:nvSpPr>
          <p:cNvPr id="16" name="Text 14"/>
          <p:cNvSpPr/>
          <p:nvPr/>
        </p:nvSpPr>
        <p:spPr>
          <a:xfrm>
            <a:off x="3520440" y="3099816"/>
            <a:ext cx="260604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Name</a:t>
            </a:r>
            <a:endParaRPr lang="en-US" sz="1000" dirty="0"/>
          </a:p>
        </p:txBody>
      </p:sp>
      <p:sp>
        <p:nvSpPr>
          <p:cNvPr id="17" name="Text 15"/>
          <p:cNvSpPr/>
          <p:nvPr/>
        </p:nvSpPr>
        <p:spPr>
          <a:xfrm>
            <a:off x="3520440" y="3410712"/>
            <a:ext cx="260604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CategoryID (FK)</a:t>
            </a:r>
            <a:endParaRPr lang="en-US" sz="1000" dirty="0"/>
          </a:p>
        </p:txBody>
      </p:sp>
      <p:sp>
        <p:nvSpPr>
          <p:cNvPr id="18" name="Text 16"/>
          <p:cNvSpPr/>
          <p:nvPr/>
        </p:nvSpPr>
        <p:spPr>
          <a:xfrm>
            <a:off x="3520440" y="3721608"/>
            <a:ext cx="260604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SupplierID (FK)</a:t>
            </a:r>
            <a:endParaRPr lang="en-US" sz="1000" dirty="0"/>
          </a:p>
        </p:txBody>
      </p:sp>
      <p:sp>
        <p:nvSpPr>
          <p:cNvPr id="19" name="Text 17"/>
          <p:cNvSpPr/>
          <p:nvPr/>
        </p:nvSpPr>
        <p:spPr>
          <a:xfrm>
            <a:off x="3520440" y="4032504"/>
            <a:ext cx="260604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Price</a:t>
            </a:r>
            <a:endParaRPr lang="en-US" sz="1000" dirty="0"/>
          </a:p>
        </p:txBody>
      </p:sp>
      <p:sp>
        <p:nvSpPr>
          <p:cNvPr id="20" name="Shape 18"/>
          <p:cNvSpPr/>
          <p:nvPr/>
        </p:nvSpPr>
        <p:spPr>
          <a:xfrm>
            <a:off x="6675120" y="2331720"/>
            <a:ext cx="2468880" cy="457200"/>
          </a:xfrm>
          <a:prstGeom prst="rect">
            <a:avLst/>
          </a:prstGeom>
          <a:solidFill>
            <a:srgbClr val="1F2D3D"/>
          </a:solidFill>
          <a:ln/>
        </p:spPr>
      </p:sp>
      <p:sp>
        <p:nvSpPr>
          <p:cNvPr id="21" name="Text 19"/>
          <p:cNvSpPr/>
          <p:nvPr/>
        </p:nvSpPr>
        <p:spPr>
          <a:xfrm>
            <a:off x="6675120" y="2331720"/>
            <a:ext cx="24688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WAREHOUSE</a:t>
            </a:r>
            <a:endParaRPr lang="en-US" sz="1250" dirty="0"/>
          </a:p>
        </p:txBody>
      </p:sp>
      <p:sp>
        <p:nvSpPr>
          <p:cNvPr id="22" name="Shape 20"/>
          <p:cNvSpPr/>
          <p:nvPr/>
        </p:nvSpPr>
        <p:spPr>
          <a:xfrm>
            <a:off x="6675120" y="2788920"/>
            <a:ext cx="2468880" cy="932688"/>
          </a:xfrm>
          <a:prstGeom prst="rect">
            <a:avLst/>
          </a:prstGeom>
          <a:solidFill>
            <a:srgbClr val="FFFFFF"/>
          </a:solidFill>
          <a:ln w="12700">
            <a:solidFill>
              <a:srgbClr val="D8DCE1"/>
            </a:solidFill>
            <a:prstDash val="solid"/>
          </a:ln>
        </p:spPr>
      </p:sp>
      <p:sp>
        <p:nvSpPr>
          <p:cNvPr id="23" name="Text 21"/>
          <p:cNvSpPr/>
          <p:nvPr/>
        </p:nvSpPr>
        <p:spPr>
          <a:xfrm>
            <a:off x="6812280" y="2788920"/>
            <a:ext cx="2194560" cy="310896"/>
          </a:xfrm>
          <a:prstGeom prst="rect">
            <a:avLst/>
          </a:prstGeom>
          <a:noFill/>
          <a:ln/>
        </p:spPr>
        <p:txBody>
          <a:bodyPr wrap="square" lIns="0" tIns="0" rIns="0" bIns="0" rtlCol="0" anchor="ctr"/>
          <a:lstStyle/>
          <a:p>
            <a:pPr indent="0" marL="0">
              <a:buNone/>
            </a:pPr>
            <a:r>
              <a:rPr lang="en-US" sz="1000" b="1" dirty="0">
                <a:solidFill>
                  <a:srgbClr val="E37B27"/>
                </a:solidFill>
                <a:latin typeface="Calibri" pitchFamily="34" charset="0"/>
                <a:ea typeface="Calibri" pitchFamily="34" charset="-122"/>
                <a:cs typeface="Calibri" pitchFamily="34" charset="-120"/>
              </a:rPr>
              <a:t>WarehouseID (PK)</a:t>
            </a:r>
            <a:endParaRPr lang="en-US" sz="1000" dirty="0"/>
          </a:p>
        </p:txBody>
      </p:sp>
      <p:sp>
        <p:nvSpPr>
          <p:cNvPr id="24" name="Text 22"/>
          <p:cNvSpPr/>
          <p:nvPr/>
        </p:nvSpPr>
        <p:spPr>
          <a:xfrm>
            <a:off x="6812280" y="3099816"/>
            <a:ext cx="219456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Location</a:t>
            </a:r>
            <a:endParaRPr lang="en-US" sz="1000" dirty="0"/>
          </a:p>
        </p:txBody>
      </p:sp>
      <p:sp>
        <p:nvSpPr>
          <p:cNvPr id="25" name="Text 23"/>
          <p:cNvSpPr/>
          <p:nvPr/>
        </p:nvSpPr>
        <p:spPr>
          <a:xfrm>
            <a:off x="6812280" y="3410712"/>
            <a:ext cx="219456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Capacity</a:t>
            </a:r>
            <a:endParaRPr lang="en-US" sz="1000" dirty="0"/>
          </a:p>
        </p:txBody>
      </p:sp>
      <p:sp>
        <p:nvSpPr>
          <p:cNvPr id="26" name="Shape 24"/>
          <p:cNvSpPr/>
          <p:nvPr/>
        </p:nvSpPr>
        <p:spPr>
          <a:xfrm>
            <a:off x="9235440" y="2331720"/>
            <a:ext cx="2377440" cy="457200"/>
          </a:xfrm>
          <a:prstGeom prst="rect">
            <a:avLst/>
          </a:prstGeom>
          <a:solidFill>
            <a:srgbClr val="1F2D3D"/>
          </a:solidFill>
          <a:ln/>
        </p:spPr>
      </p:sp>
      <p:sp>
        <p:nvSpPr>
          <p:cNvPr id="27" name="Text 25"/>
          <p:cNvSpPr/>
          <p:nvPr/>
        </p:nvSpPr>
        <p:spPr>
          <a:xfrm>
            <a:off x="9235440" y="2331720"/>
            <a:ext cx="2377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STOCK</a:t>
            </a:r>
            <a:endParaRPr lang="en-US" sz="1250" dirty="0"/>
          </a:p>
        </p:txBody>
      </p:sp>
      <p:sp>
        <p:nvSpPr>
          <p:cNvPr id="28" name="Shape 26"/>
          <p:cNvSpPr/>
          <p:nvPr/>
        </p:nvSpPr>
        <p:spPr>
          <a:xfrm>
            <a:off x="9235440" y="2788920"/>
            <a:ext cx="2377440" cy="1243584"/>
          </a:xfrm>
          <a:prstGeom prst="rect">
            <a:avLst/>
          </a:prstGeom>
          <a:solidFill>
            <a:srgbClr val="FFFFFF"/>
          </a:solidFill>
          <a:ln w="12700">
            <a:solidFill>
              <a:srgbClr val="D8DCE1"/>
            </a:solidFill>
            <a:prstDash val="solid"/>
          </a:ln>
        </p:spPr>
      </p:sp>
      <p:sp>
        <p:nvSpPr>
          <p:cNvPr id="29" name="Text 27"/>
          <p:cNvSpPr/>
          <p:nvPr/>
        </p:nvSpPr>
        <p:spPr>
          <a:xfrm>
            <a:off x="9372600" y="2788920"/>
            <a:ext cx="2103120" cy="310896"/>
          </a:xfrm>
          <a:prstGeom prst="rect">
            <a:avLst/>
          </a:prstGeom>
          <a:noFill/>
          <a:ln/>
        </p:spPr>
        <p:txBody>
          <a:bodyPr wrap="square" lIns="0" tIns="0" rIns="0" bIns="0" rtlCol="0" anchor="ctr"/>
          <a:lstStyle/>
          <a:p>
            <a:pPr indent="0" marL="0">
              <a:buNone/>
            </a:pPr>
            <a:r>
              <a:rPr lang="en-US" sz="1000" b="1" dirty="0">
                <a:solidFill>
                  <a:srgbClr val="E37B27"/>
                </a:solidFill>
                <a:latin typeface="Calibri" pitchFamily="34" charset="0"/>
                <a:ea typeface="Calibri" pitchFamily="34" charset="-122"/>
                <a:cs typeface="Calibri" pitchFamily="34" charset="-120"/>
              </a:rPr>
              <a:t>StockID (PK)</a:t>
            </a:r>
            <a:endParaRPr lang="en-US" sz="1000" dirty="0"/>
          </a:p>
        </p:txBody>
      </p:sp>
      <p:sp>
        <p:nvSpPr>
          <p:cNvPr id="30" name="Text 28"/>
          <p:cNvSpPr/>
          <p:nvPr/>
        </p:nvSpPr>
        <p:spPr>
          <a:xfrm>
            <a:off x="9372600" y="3099816"/>
            <a:ext cx="210312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ProductID (FK)</a:t>
            </a:r>
            <a:endParaRPr lang="en-US" sz="1000" dirty="0"/>
          </a:p>
        </p:txBody>
      </p:sp>
      <p:sp>
        <p:nvSpPr>
          <p:cNvPr id="31" name="Text 29"/>
          <p:cNvSpPr/>
          <p:nvPr/>
        </p:nvSpPr>
        <p:spPr>
          <a:xfrm>
            <a:off x="9372600" y="3410712"/>
            <a:ext cx="210312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WarehouseID (FK)</a:t>
            </a:r>
            <a:endParaRPr lang="en-US" sz="1000" dirty="0"/>
          </a:p>
        </p:txBody>
      </p:sp>
      <p:sp>
        <p:nvSpPr>
          <p:cNvPr id="32" name="Text 30"/>
          <p:cNvSpPr/>
          <p:nvPr/>
        </p:nvSpPr>
        <p:spPr>
          <a:xfrm>
            <a:off x="9372600" y="3721608"/>
            <a:ext cx="2103120" cy="310896"/>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Quantity</a:t>
            </a:r>
            <a:endParaRPr lang="en-US" sz="1000" dirty="0"/>
          </a:p>
        </p:txBody>
      </p:sp>
      <p:sp>
        <p:nvSpPr>
          <p:cNvPr id="33" name="Shape 31"/>
          <p:cNvSpPr/>
          <p:nvPr/>
        </p:nvSpPr>
        <p:spPr>
          <a:xfrm>
            <a:off x="3017520" y="2560320"/>
            <a:ext cx="365760" cy="0"/>
          </a:xfrm>
          <a:prstGeom prst="line">
            <a:avLst/>
          </a:prstGeom>
          <a:noFill/>
          <a:ln w="15875">
            <a:solidFill>
              <a:srgbClr val="6B7684"/>
            </a:solidFill>
            <a:prstDash val="dash"/>
          </a:ln>
        </p:spPr>
      </p:sp>
      <p:sp>
        <p:nvSpPr>
          <p:cNvPr id="34" name="Shape 32"/>
          <p:cNvSpPr/>
          <p:nvPr/>
        </p:nvSpPr>
        <p:spPr>
          <a:xfrm>
            <a:off x="6263640" y="2560320"/>
            <a:ext cx="411480" cy="0"/>
          </a:xfrm>
          <a:prstGeom prst="line">
            <a:avLst/>
          </a:prstGeom>
          <a:noFill/>
          <a:ln w="15875">
            <a:solidFill>
              <a:srgbClr val="6B7684"/>
            </a:solidFill>
            <a:prstDash val="dash"/>
          </a:ln>
        </p:spPr>
      </p:sp>
      <p:sp>
        <p:nvSpPr>
          <p:cNvPr id="35" name="Shape 33"/>
          <p:cNvSpPr/>
          <p:nvPr/>
        </p:nvSpPr>
        <p:spPr>
          <a:xfrm>
            <a:off x="9052560" y="3108960"/>
            <a:ext cx="182880" cy="0"/>
          </a:xfrm>
          <a:prstGeom prst="line">
            <a:avLst/>
          </a:prstGeom>
          <a:noFill/>
          <a:ln w="15875">
            <a:solidFill>
              <a:srgbClr val="6B7684"/>
            </a:solidFill>
            <a:prstDash val="dash"/>
          </a:ln>
        </p:spPr>
      </p:sp>
      <p:sp>
        <p:nvSpPr>
          <p:cNvPr id="36" name="Text 34"/>
          <p:cNvSpPr/>
          <p:nvPr/>
        </p:nvSpPr>
        <p:spPr>
          <a:xfrm>
            <a:off x="548640" y="4526280"/>
            <a:ext cx="10515600" cy="502920"/>
          </a:xfrm>
          <a:prstGeom prst="rect">
            <a:avLst/>
          </a:prstGeom>
          <a:noFill/>
          <a:ln/>
        </p:spPr>
        <p:txBody>
          <a:bodyPr wrap="square" lIns="0" tIns="0" rIns="0" bIns="0" rtlCol="0" anchor="ctr"/>
          <a:lstStyle/>
          <a:p>
            <a:pPr indent="0" marL="0">
              <a:lnSpc>
                <a:spcPct val="125000"/>
              </a:lnSpc>
              <a:buNone/>
            </a:pPr>
            <a:r>
              <a:rPr lang="en-US" sz="1300" i="1" dirty="0">
                <a:solidFill>
                  <a:srgbClr val="6B7684"/>
                </a:solidFill>
                <a:latin typeface="Calibri" pitchFamily="34" charset="0"/>
                <a:ea typeface="Calibri" pitchFamily="34" charset="-122"/>
                <a:cs typeface="Calibri" pitchFamily="34" charset="-120"/>
              </a:rPr>
              <a:t>In addition, ORDERS and ORDER_ITEMS tables record every sale or purchase transaction, linked to PRODUCT and a CUSTOMER / SUPPLIER table — completing a fully normalized (3NF) schema.</a:t>
            </a:r>
            <a:endParaRPr lang="en-US" sz="1300" dirty="0"/>
          </a:p>
        </p:txBody>
      </p:sp>
      <p:sp>
        <p:nvSpPr>
          <p:cNvPr id="37" name="Shape 35"/>
          <p:cNvSpPr/>
          <p:nvPr/>
        </p:nvSpPr>
        <p:spPr>
          <a:xfrm>
            <a:off x="548640" y="5166360"/>
            <a:ext cx="10881360" cy="1234440"/>
          </a:xfrm>
          <a:prstGeom prst="rect">
            <a:avLst/>
          </a:prstGeom>
          <a:solidFill>
            <a:srgbClr val="1F2D3D"/>
          </a:solidFill>
          <a:ln/>
        </p:spPr>
      </p:sp>
      <p:sp>
        <p:nvSpPr>
          <p:cNvPr id="38" name="Text 36"/>
          <p:cNvSpPr/>
          <p:nvPr/>
        </p:nvSpPr>
        <p:spPr>
          <a:xfrm>
            <a:off x="822960" y="5303520"/>
            <a:ext cx="10058400" cy="274320"/>
          </a:xfrm>
          <a:prstGeom prst="rect">
            <a:avLst/>
          </a:prstGeom>
          <a:noFill/>
          <a:ln/>
        </p:spPr>
        <p:txBody>
          <a:bodyPr wrap="square" lIns="0" tIns="0" rIns="0" bIns="0" rtlCol="0" anchor="ctr"/>
          <a:lstStyle/>
          <a:p>
            <a:pPr indent="0" marL="0">
              <a:buNone/>
            </a:pPr>
            <a:r>
              <a:rPr lang="en-US" sz="1100" b="1" dirty="0">
                <a:solidFill>
                  <a:srgbClr val="E37B27"/>
                </a:solidFill>
                <a:latin typeface="Calibri" pitchFamily="34" charset="0"/>
                <a:ea typeface="Calibri" pitchFamily="34" charset="-122"/>
                <a:cs typeface="Calibri" pitchFamily="34" charset="-120"/>
              </a:rPr>
              <a:t>Sample Query — Find products below reorder level</a:t>
            </a:r>
            <a:endParaRPr lang="en-US" sz="1100" dirty="0"/>
          </a:p>
        </p:txBody>
      </p:sp>
      <p:sp>
        <p:nvSpPr>
          <p:cNvPr id="39" name="Text 37"/>
          <p:cNvSpPr/>
          <p:nvPr/>
        </p:nvSpPr>
        <p:spPr>
          <a:xfrm>
            <a:off x="822960" y="5596128"/>
            <a:ext cx="10332720" cy="640080"/>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SELECT p.Name, s.Quantity FROM PRODUCT p JOIN STOCK s ON p.ProductID = s.ProductID WHERE s.Quantity &lt; 10;</a:t>
            </a:r>
            <a:endParaRPr lang="en-US" sz="1250" dirty="0"/>
          </a:p>
        </p:txBody>
      </p:sp>
      <p:sp>
        <p:nvSpPr>
          <p:cNvPr id="40" name="Text 38"/>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684"/>
                </a:solidFill>
                <a:latin typeface="Calibri" pitchFamily="34" charset="0"/>
                <a:ea typeface="Calibri" pitchFamily="34" charset="-122"/>
                <a:cs typeface="Calibri" pitchFamily="34" charset="-120"/>
              </a:rPr>
              <a:t>Inventory &amp; Warehouse Management System</a:t>
            </a:r>
            <a:endParaRPr lang="en-US" sz="900" dirty="0"/>
          </a:p>
        </p:txBody>
      </p:sp>
      <p:sp>
        <p:nvSpPr>
          <p:cNvPr id="41" name="Text 39"/>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E37B27"/>
                </a:solidFill>
                <a:latin typeface="Calibri" pitchFamily="34" charset="0"/>
                <a:ea typeface="Calibri" pitchFamily="34" charset="-122"/>
                <a:cs typeface="Calibri" pitchFamily="34" charset="-120"/>
              </a:rPr>
              <a:t>SYSTEM SPECIFICATIONS</a:t>
            </a:r>
            <a:endParaRPr lang="en-US" sz="12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indent="0" marL="0">
              <a:buNone/>
            </a:pPr>
            <a:r>
              <a:rPr lang="en-US" sz="3200" b="1" dirty="0">
                <a:solidFill>
                  <a:srgbClr val="1F2D3D"/>
                </a:solidFill>
                <a:latin typeface="Cambria" pitchFamily="34" charset="0"/>
                <a:ea typeface="Cambria" pitchFamily="34" charset="-122"/>
                <a:cs typeface="Cambria" pitchFamily="34" charset="-120"/>
              </a:rPr>
              <a:t>Hardware Requirements</a:t>
            </a:r>
            <a:endParaRPr lang="en-US" sz="3200" dirty="0"/>
          </a:p>
        </p:txBody>
      </p:sp>
      <p:sp>
        <p:nvSpPr>
          <p:cNvPr id="4" name="Shape 2"/>
          <p:cNvSpPr/>
          <p:nvPr/>
        </p:nvSpPr>
        <p:spPr>
          <a:xfrm>
            <a:off x="548640" y="1645920"/>
            <a:ext cx="10881360" cy="621792"/>
          </a:xfrm>
          <a:prstGeom prst="rect">
            <a:avLst/>
          </a:prstGeom>
          <a:solidFill>
            <a:srgbClr val="FFFFFF"/>
          </a:solidFill>
          <a:ln w="12700">
            <a:solidFill>
              <a:srgbClr val="E1E4E8"/>
            </a:solidFill>
            <a:prstDash val="solid"/>
          </a:ln>
        </p:spPr>
      </p:sp>
      <p:sp>
        <p:nvSpPr>
          <p:cNvPr id="5" name="Shape 3"/>
          <p:cNvSpPr/>
          <p:nvPr/>
        </p:nvSpPr>
        <p:spPr>
          <a:xfrm>
            <a:off x="548640" y="1645920"/>
            <a:ext cx="2377440" cy="621792"/>
          </a:xfrm>
          <a:prstGeom prst="rect">
            <a:avLst/>
          </a:prstGeom>
          <a:solidFill>
            <a:srgbClr val="1F2D3D"/>
          </a:solidFill>
          <a:ln/>
        </p:spPr>
      </p:sp>
      <p:sp>
        <p:nvSpPr>
          <p:cNvPr id="6" name="Text 4"/>
          <p:cNvSpPr/>
          <p:nvPr/>
        </p:nvSpPr>
        <p:spPr>
          <a:xfrm>
            <a:off x="548640" y="1645920"/>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Processor</a:t>
            </a:r>
            <a:endParaRPr lang="en-US" sz="1300" dirty="0"/>
          </a:p>
        </p:txBody>
      </p:sp>
      <p:sp>
        <p:nvSpPr>
          <p:cNvPr id="7" name="Text 5"/>
          <p:cNvSpPr/>
          <p:nvPr/>
        </p:nvSpPr>
        <p:spPr>
          <a:xfrm>
            <a:off x="3108960" y="1645920"/>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Intel Core i3 (or higher) / equivalent AMD processor</a:t>
            </a:r>
            <a:endParaRPr lang="en-US" sz="1300" dirty="0"/>
          </a:p>
        </p:txBody>
      </p:sp>
      <p:sp>
        <p:nvSpPr>
          <p:cNvPr id="8" name="Shape 6"/>
          <p:cNvSpPr/>
          <p:nvPr/>
        </p:nvSpPr>
        <p:spPr>
          <a:xfrm>
            <a:off x="548640" y="2395728"/>
            <a:ext cx="10881360" cy="621792"/>
          </a:xfrm>
          <a:prstGeom prst="rect">
            <a:avLst/>
          </a:prstGeom>
          <a:solidFill>
            <a:srgbClr val="FFFFFF"/>
          </a:solidFill>
          <a:ln w="12700">
            <a:solidFill>
              <a:srgbClr val="E1E4E8"/>
            </a:solidFill>
            <a:prstDash val="solid"/>
          </a:ln>
        </p:spPr>
      </p:sp>
      <p:sp>
        <p:nvSpPr>
          <p:cNvPr id="9" name="Shape 7"/>
          <p:cNvSpPr/>
          <p:nvPr/>
        </p:nvSpPr>
        <p:spPr>
          <a:xfrm>
            <a:off x="548640" y="2395728"/>
            <a:ext cx="2377440" cy="621792"/>
          </a:xfrm>
          <a:prstGeom prst="rect">
            <a:avLst/>
          </a:prstGeom>
          <a:solidFill>
            <a:srgbClr val="1F2D3D"/>
          </a:solidFill>
          <a:ln/>
        </p:spPr>
      </p:sp>
      <p:sp>
        <p:nvSpPr>
          <p:cNvPr id="10" name="Text 8"/>
          <p:cNvSpPr/>
          <p:nvPr/>
        </p:nvSpPr>
        <p:spPr>
          <a:xfrm>
            <a:off x="548640" y="2395728"/>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RAM</a:t>
            </a:r>
            <a:endParaRPr lang="en-US" sz="1300" dirty="0"/>
          </a:p>
        </p:txBody>
      </p:sp>
      <p:sp>
        <p:nvSpPr>
          <p:cNvPr id="11" name="Text 9"/>
          <p:cNvSpPr/>
          <p:nvPr/>
        </p:nvSpPr>
        <p:spPr>
          <a:xfrm>
            <a:off x="3108960" y="2395728"/>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Minimum 4 GB (8 GB recommended for smooth performance)</a:t>
            </a:r>
            <a:endParaRPr lang="en-US" sz="1300" dirty="0"/>
          </a:p>
        </p:txBody>
      </p:sp>
      <p:sp>
        <p:nvSpPr>
          <p:cNvPr id="12" name="Shape 10"/>
          <p:cNvSpPr/>
          <p:nvPr/>
        </p:nvSpPr>
        <p:spPr>
          <a:xfrm>
            <a:off x="548640" y="3145536"/>
            <a:ext cx="10881360" cy="621792"/>
          </a:xfrm>
          <a:prstGeom prst="rect">
            <a:avLst/>
          </a:prstGeom>
          <a:solidFill>
            <a:srgbClr val="FFFFFF"/>
          </a:solidFill>
          <a:ln w="12700">
            <a:solidFill>
              <a:srgbClr val="E1E4E8"/>
            </a:solidFill>
            <a:prstDash val="solid"/>
          </a:ln>
        </p:spPr>
      </p:sp>
      <p:sp>
        <p:nvSpPr>
          <p:cNvPr id="13" name="Shape 11"/>
          <p:cNvSpPr/>
          <p:nvPr/>
        </p:nvSpPr>
        <p:spPr>
          <a:xfrm>
            <a:off x="548640" y="3145536"/>
            <a:ext cx="2377440" cy="621792"/>
          </a:xfrm>
          <a:prstGeom prst="rect">
            <a:avLst/>
          </a:prstGeom>
          <a:solidFill>
            <a:srgbClr val="1F2D3D"/>
          </a:solidFill>
          <a:ln/>
        </p:spPr>
      </p:sp>
      <p:sp>
        <p:nvSpPr>
          <p:cNvPr id="14" name="Text 12"/>
          <p:cNvSpPr/>
          <p:nvPr/>
        </p:nvSpPr>
        <p:spPr>
          <a:xfrm>
            <a:off x="548640" y="3145536"/>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Hard Disk</a:t>
            </a:r>
            <a:endParaRPr lang="en-US" sz="1300" dirty="0"/>
          </a:p>
        </p:txBody>
      </p:sp>
      <p:sp>
        <p:nvSpPr>
          <p:cNvPr id="15" name="Text 13"/>
          <p:cNvSpPr/>
          <p:nvPr/>
        </p:nvSpPr>
        <p:spPr>
          <a:xfrm>
            <a:off x="3108960" y="3145536"/>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128 GB or more free storage space</a:t>
            </a:r>
            <a:endParaRPr lang="en-US" sz="1300" dirty="0"/>
          </a:p>
        </p:txBody>
      </p:sp>
      <p:sp>
        <p:nvSpPr>
          <p:cNvPr id="16" name="Shape 14"/>
          <p:cNvSpPr/>
          <p:nvPr/>
        </p:nvSpPr>
        <p:spPr>
          <a:xfrm>
            <a:off x="548640" y="3895344"/>
            <a:ext cx="10881360" cy="621792"/>
          </a:xfrm>
          <a:prstGeom prst="rect">
            <a:avLst/>
          </a:prstGeom>
          <a:solidFill>
            <a:srgbClr val="FFFFFF"/>
          </a:solidFill>
          <a:ln w="12700">
            <a:solidFill>
              <a:srgbClr val="E1E4E8"/>
            </a:solidFill>
            <a:prstDash val="solid"/>
          </a:ln>
        </p:spPr>
      </p:sp>
      <p:sp>
        <p:nvSpPr>
          <p:cNvPr id="17" name="Shape 15"/>
          <p:cNvSpPr/>
          <p:nvPr/>
        </p:nvSpPr>
        <p:spPr>
          <a:xfrm>
            <a:off x="548640" y="3895344"/>
            <a:ext cx="2377440" cy="621792"/>
          </a:xfrm>
          <a:prstGeom prst="rect">
            <a:avLst/>
          </a:prstGeom>
          <a:solidFill>
            <a:srgbClr val="1F2D3D"/>
          </a:solidFill>
          <a:ln/>
        </p:spPr>
      </p:sp>
      <p:sp>
        <p:nvSpPr>
          <p:cNvPr id="18" name="Text 16"/>
          <p:cNvSpPr/>
          <p:nvPr/>
        </p:nvSpPr>
        <p:spPr>
          <a:xfrm>
            <a:off x="548640" y="3895344"/>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Monitor</a:t>
            </a:r>
            <a:endParaRPr lang="en-US" sz="1300" dirty="0"/>
          </a:p>
        </p:txBody>
      </p:sp>
      <p:sp>
        <p:nvSpPr>
          <p:cNvPr id="19" name="Text 17"/>
          <p:cNvSpPr/>
          <p:nvPr/>
        </p:nvSpPr>
        <p:spPr>
          <a:xfrm>
            <a:off x="3108960" y="3895344"/>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Standard monitor with at least 1366 x 768 resolution</a:t>
            </a:r>
            <a:endParaRPr lang="en-US" sz="1300" dirty="0"/>
          </a:p>
        </p:txBody>
      </p:sp>
      <p:sp>
        <p:nvSpPr>
          <p:cNvPr id="20" name="Shape 18"/>
          <p:cNvSpPr/>
          <p:nvPr/>
        </p:nvSpPr>
        <p:spPr>
          <a:xfrm>
            <a:off x="548640" y="4645152"/>
            <a:ext cx="10881360" cy="621792"/>
          </a:xfrm>
          <a:prstGeom prst="rect">
            <a:avLst/>
          </a:prstGeom>
          <a:solidFill>
            <a:srgbClr val="FFFFFF"/>
          </a:solidFill>
          <a:ln w="12700">
            <a:solidFill>
              <a:srgbClr val="E1E4E8"/>
            </a:solidFill>
            <a:prstDash val="solid"/>
          </a:ln>
        </p:spPr>
      </p:sp>
      <p:sp>
        <p:nvSpPr>
          <p:cNvPr id="21" name="Shape 19"/>
          <p:cNvSpPr/>
          <p:nvPr/>
        </p:nvSpPr>
        <p:spPr>
          <a:xfrm>
            <a:off x="548640" y="4645152"/>
            <a:ext cx="2377440" cy="621792"/>
          </a:xfrm>
          <a:prstGeom prst="rect">
            <a:avLst/>
          </a:prstGeom>
          <a:solidFill>
            <a:srgbClr val="1F2D3D"/>
          </a:solidFill>
          <a:ln/>
        </p:spPr>
      </p:sp>
      <p:sp>
        <p:nvSpPr>
          <p:cNvPr id="22" name="Text 20"/>
          <p:cNvSpPr/>
          <p:nvPr/>
        </p:nvSpPr>
        <p:spPr>
          <a:xfrm>
            <a:off x="548640" y="4645152"/>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Input Devices</a:t>
            </a:r>
            <a:endParaRPr lang="en-US" sz="1300" dirty="0"/>
          </a:p>
        </p:txBody>
      </p:sp>
      <p:sp>
        <p:nvSpPr>
          <p:cNvPr id="23" name="Text 21"/>
          <p:cNvSpPr/>
          <p:nvPr/>
        </p:nvSpPr>
        <p:spPr>
          <a:xfrm>
            <a:off x="3108960" y="4645152"/>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Keyboard and mouse</a:t>
            </a:r>
            <a:endParaRPr lang="en-US" sz="1300" dirty="0"/>
          </a:p>
        </p:txBody>
      </p:sp>
      <p:sp>
        <p:nvSpPr>
          <p:cNvPr id="24" name="Shape 22"/>
          <p:cNvSpPr/>
          <p:nvPr/>
        </p:nvSpPr>
        <p:spPr>
          <a:xfrm>
            <a:off x="548640" y="5394960"/>
            <a:ext cx="10881360" cy="621792"/>
          </a:xfrm>
          <a:prstGeom prst="rect">
            <a:avLst/>
          </a:prstGeom>
          <a:solidFill>
            <a:srgbClr val="FFFFFF"/>
          </a:solidFill>
          <a:ln w="12700">
            <a:solidFill>
              <a:srgbClr val="E1E4E8"/>
            </a:solidFill>
            <a:prstDash val="solid"/>
          </a:ln>
        </p:spPr>
      </p:sp>
      <p:sp>
        <p:nvSpPr>
          <p:cNvPr id="25" name="Shape 23"/>
          <p:cNvSpPr/>
          <p:nvPr/>
        </p:nvSpPr>
        <p:spPr>
          <a:xfrm>
            <a:off x="548640" y="5394960"/>
            <a:ext cx="2377440" cy="621792"/>
          </a:xfrm>
          <a:prstGeom prst="rect">
            <a:avLst/>
          </a:prstGeom>
          <a:solidFill>
            <a:srgbClr val="1F2D3D"/>
          </a:solidFill>
          <a:ln/>
        </p:spPr>
      </p:sp>
      <p:sp>
        <p:nvSpPr>
          <p:cNvPr id="26" name="Text 24"/>
          <p:cNvSpPr/>
          <p:nvPr/>
        </p:nvSpPr>
        <p:spPr>
          <a:xfrm>
            <a:off x="548640" y="5394960"/>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27" name="Text 25"/>
          <p:cNvSpPr/>
          <p:nvPr/>
        </p:nvSpPr>
        <p:spPr>
          <a:xfrm>
            <a:off x="3108960" y="5394960"/>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Internet / LAN connection (for multi-user access)</a:t>
            </a:r>
            <a:endParaRPr lang="en-US" sz="1300" dirty="0"/>
          </a:p>
        </p:txBody>
      </p:sp>
      <p:sp>
        <p:nvSpPr>
          <p:cNvPr id="28" name="Text 26"/>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684"/>
                </a:solidFill>
                <a:latin typeface="Calibri" pitchFamily="34" charset="0"/>
                <a:ea typeface="Calibri" pitchFamily="34" charset="-122"/>
                <a:cs typeface="Calibri" pitchFamily="34" charset="-120"/>
              </a:rPr>
              <a:t>Inventory &amp; Warehouse Management System</a:t>
            </a:r>
            <a:endParaRPr lang="en-US" sz="900" dirty="0"/>
          </a:p>
        </p:txBody>
      </p:sp>
      <p:sp>
        <p:nvSpPr>
          <p:cNvPr id="29" name="Text 27"/>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E37B27"/>
                </a:solidFill>
                <a:latin typeface="Calibri" pitchFamily="34" charset="0"/>
                <a:ea typeface="Calibri" pitchFamily="34" charset="-122"/>
                <a:cs typeface="Calibri" pitchFamily="34" charset="-120"/>
              </a:rPr>
              <a:t>TOOLS &amp; TECHNOLOGIES</a:t>
            </a:r>
            <a:endParaRPr lang="en-US" sz="12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indent="0" marL="0">
              <a:buNone/>
            </a:pPr>
            <a:r>
              <a:rPr lang="en-US" sz="3200" b="1" dirty="0">
                <a:solidFill>
                  <a:srgbClr val="1F2D3D"/>
                </a:solidFill>
                <a:latin typeface="Cambria" pitchFamily="34" charset="0"/>
                <a:ea typeface="Cambria" pitchFamily="34" charset="-122"/>
                <a:cs typeface="Cambria" pitchFamily="34" charset="-120"/>
              </a:rPr>
              <a:t>Software Requirements</a:t>
            </a:r>
            <a:endParaRPr lang="en-US" sz="3200" dirty="0"/>
          </a:p>
        </p:txBody>
      </p:sp>
      <p:sp>
        <p:nvSpPr>
          <p:cNvPr id="4" name="Shape 2"/>
          <p:cNvSpPr/>
          <p:nvPr/>
        </p:nvSpPr>
        <p:spPr>
          <a:xfrm>
            <a:off x="548640" y="1645920"/>
            <a:ext cx="10881360" cy="621792"/>
          </a:xfrm>
          <a:prstGeom prst="rect">
            <a:avLst/>
          </a:prstGeom>
          <a:solidFill>
            <a:srgbClr val="FFFFFF"/>
          </a:solidFill>
          <a:ln w="12700">
            <a:solidFill>
              <a:srgbClr val="E1E4E8"/>
            </a:solidFill>
            <a:prstDash val="solid"/>
          </a:ln>
        </p:spPr>
      </p:sp>
      <p:sp>
        <p:nvSpPr>
          <p:cNvPr id="5" name="Shape 3"/>
          <p:cNvSpPr/>
          <p:nvPr/>
        </p:nvSpPr>
        <p:spPr>
          <a:xfrm>
            <a:off x="548640" y="1645920"/>
            <a:ext cx="2377440" cy="621792"/>
          </a:xfrm>
          <a:prstGeom prst="rect">
            <a:avLst/>
          </a:prstGeom>
          <a:solidFill>
            <a:srgbClr val="E37B27"/>
          </a:solidFill>
          <a:ln/>
        </p:spPr>
      </p:sp>
      <p:sp>
        <p:nvSpPr>
          <p:cNvPr id="6" name="Text 4"/>
          <p:cNvSpPr/>
          <p:nvPr/>
        </p:nvSpPr>
        <p:spPr>
          <a:xfrm>
            <a:off x="548640" y="1645920"/>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Operating System</a:t>
            </a:r>
            <a:endParaRPr lang="en-US" sz="1300" dirty="0"/>
          </a:p>
        </p:txBody>
      </p:sp>
      <p:sp>
        <p:nvSpPr>
          <p:cNvPr id="7" name="Text 5"/>
          <p:cNvSpPr/>
          <p:nvPr/>
        </p:nvSpPr>
        <p:spPr>
          <a:xfrm>
            <a:off x="3108960" y="1645920"/>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Windows 10 / 11 or Linux (Ubuntu)</a:t>
            </a:r>
            <a:endParaRPr lang="en-US" sz="1300" dirty="0"/>
          </a:p>
        </p:txBody>
      </p:sp>
      <p:sp>
        <p:nvSpPr>
          <p:cNvPr id="8" name="Shape 6"/>
          <p:cNvSpPr/>
          <p:nvPr/>
        </p:nvSpPr>
        <p:spPr>
          <a:xfrm>
            <a:off x="548640" y="2395728"/>
            <a:ext cx="10881360" cy="621792"/>
          </a:xfrm>
          <a:prstGeom prst="rect">
            <a:avLst/>
          </a:prstGeom>
          <a:solidFill>
            <a:srgbClr val="FFFFFF"/>
          </a:solidFill>
          <a:ln w="12700">
            <a:solidFill>
              <a:srgbClr val="E1E4E8"/>
            </a:solidFill>
            <a:prstDash val="solid"/>
          </a:ln>
        </p:spPr>
      </p:sp>
      <p:sp>
        <p:nvSpPr>
          <p:cNvPr id="9" name="Shape 7"/>
          <p:cNvSpPr/>
          <p:nvPr/>
        </p:nvSpPr>
        <p:spPr>
          <a:xfrm>
            <a:off x="548640" y="2395728"/>
            <a:ext cx="2377440" cy="621792"/>
          </a:xfrm>
          <a:prstGeom prst="rect">
            <a:avLst/>
          </a:prstGeom>
          <a:solidFill>
            <a:srgbClr val="E37B27"/>
          </a:solidFill>
          <a:ln/>
        </p:spPr>
      </p:sp>
      <p:sp>
        <p:nvSpPr>
          <p:cNvPr id="10" name="Text 8"/>
          <p:cNvSpPr/>
          <p:nvPr/>
        </p:nvSpPr>
        <p:spPr>
          <a:xfrm>
            <a:off x="548640" y="2395728"/>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Database</a:t>
            </a:r>
            <a:endParaRPr lang="en-US" sz="1300" dirty="0"/>
          </a:p>
        </p:txBody>
      </p:sp>
      <p:sp>
        <p:nvSpPr>
          <p:cNvPr id="11" name="Text 9"/>
          <p:cNvSpPr/>
          <p:nvPr/>
        </p:nvSpPr>
        <p:spPr>
          <a:xfrm>
            <a:off x="3108960" y="2395728"/>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MySQL / MySQL Workbench</a:t>
            </a:r>
            <a:endParaRPr lang="en-US" sz="1300" dirty="0"/>
          </a:p>
        </p:txBody>
      </p:sp>
      <p:sp>
        <p:nvSpPr>
          <p:cNvPr id="12" name="Shape 10"/>
          <p:cNvSpPr/>
          <p:nvPr/>
        </p:nvSpPr>
        <p:spPr>
          <a:xfrm>
            <a:off x="548640" y="3145536"/>
            <a:ext cx="10881360" cy="621792"/>
          </a:xfrm>
          <a:prstGeom prst="rect">
            <a:avLst/>
          </a:prstGeom>
          <a:solidFill>
            <a:srgbClr val="FFFFFF"/>
          </a:solidFill>
          <a:ln w="12700">
            <a:solidFill>
              <a:srgbClr val="E1E4E8"/>
            </a:solidFill>
            <a:prstDash val="solid"/>
          </a:ln>
        </p:spPr>
      </p:sp>
      <p:sp>
        <p:nvSpPr>
          <p:cNvPr id="13" name="Shape 11"/>
          <p:cNvSpPr/>
          <p:nvPr/>
        </p:nvSpPr>
        <p:spPr>
          <a:xfrm>
            <a:off x="548640" y="3145536"/>
            <a:ext cx="2377440" cy="621792"/>
          </a:xfrm>
          <a:prstGeom prst="rect">
            <a:avLst/>
          </a:prstGeom>
          <a:solidFill>
            <a:srgbClr val="E37B27"/>
          </a:solidFill>
          <a:ln/>
        </p:spPr>
      </p:sp>
      <p:sp>
        <p:nvSpPr>
          <p:cNvPr id="14" name="Text 12"/>
          <p:cNvSpPr/>
          <p:nvPr/>
        </p:nvSpPr>
        <p:spPr>
          <a:xfrm>
            <a:off x="548640" y="3145536"/>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Front-End</a:t>
            </a:r>
            <a:endParaRPr lang="en-US" sz="1300" dirty="0"/>
          </a:p>
        </p:txBody>
      </p:sp>
      <p:sp>
        <p:nvSpPr>
          <p:cNvPr id="15" name="Text 13"/>
          <p:cNvSpPr/>
          <p:nvPr/>
        </p:nvSpPr>
        <p:spPr>
          <a:xfrm>
            <a:off x="3108960" y="3145536"/>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HTML, CSS, JavaScript</a:t>
            </a:r>
            <a:endParaRPr lang="en-US" sz="1300" dirty="0"/>
          </a:p>
        </p:txBody>
      </p:sp>
      <p:sp>
        <p:nvSpPr>
          <p:cNvPr id="16" name="Shape 14"/>
          <p:cNvSpPr/>
          <p:nvPr/>
        </p:nvSpPr>
        <p:spPr>
          <a:xfrm>
            <a:off x="548640" y="3895344"/>
            <a:ext cx="10881360" cy="621792"/>
          </a:xfrm>
          <a:prstGeom prst="rect">
            <a:avLst/>
          </a:prstGeom>
          <a:solidFill>
            <a:srgbClr val="FFFFFF"/>
          </a:solidFill>
          <a:ln w="12700">
            <a:solidFill>
              <a:srgbClr val="E1E4E8"/>
            </a:solidFill>
            <a:prstDash val="solid"/>
          </a:ln>
        </p:spPr>
      </p:sp>
      <p:sp>
        <p:nvSpPr>
          <p:cNvPr id="17" name="Shape 15"/>
          <p:cNvSpPr/>
          <p:nvPr/>
        </p:nvSpPr>
        <p:spPr>
          <a:xfrm>
            <a:off x="548640" y="3895344"/>
            <a:ext cx="2377440" cy="621792"/>
          </a:xfrm>
          <a:prstGeom prst="rect">
            <a:avLst/>
          </a:prstGeom>
          <a:solidFill>
            <a:srgbClr val="E37B27"/>
          </a:solidFill>
          <a:ln/>
        </p:spPr>
      </p:sp>
      <p:sp>
        <p:nvSpPr>
          <p:cNvPr id="18" name="Text 16"/>
          <p:cNvSpPr/>
          <p:nvPr/>
        </p:nvSpPr>
        <p:spPr>
          <a:xfrm>
            <a:off x="548640" y="3895344"/>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Back-End</a:t>
            </a:r>
            <a:endParaRPr lang="en-US" sz="1300" dirty="0"/>
          </a:p>
        </p:txBody>
      </p:sp>
      <p:sp>
        <p:nvSpPr>
          <p:cNvPr id="19" name="Text 17"/>
          <p:cNvSpPr/>
          <p:nvPr/>
        </p:nvSpPr>
        <p:spPr>
          <a:xfrm>
            <a:off x="3108960" y="3895344"/>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PHP / Python (Django) – connects app to the database</a:t>
            </a:r>
            <a:endParaRPr lang="en-US" sz="1300" dirty="0"/>
          </a:p>
        </p:txBody>
      </p:sp>
      <p:sp>
        <p:nvSpPr>
          <p:cNvPr id="20" name="Shape 18"/>
          <p:cNvSpPr/>
          <p:nvPr/>
        </p:nvSpPr>
        <p:spPr>
          <a:xfrm>
            <a:off x="548640" y="4645152"/>
            <a:ext cx="10881360" cy="621792"/>
          </a:xfrm>
          <a:prstGeom prst="rect">
            <a:avLst/>
          </a:prstGeom>
          <a:solidFill>
            <a:srgbClr val="FFFFFF"/>
          </a:solidFill>
          <a:ln w="12700">
            <a:solidFill>
              <a:srgbClr val="E1E4E8"/>
            </a:solidFill>
            <a:prstDash val="solid"/>
          </a:ln>
        </p:spPr>
      </p:sp>
      <p:sp>
        <p:nvSpPr>
          <p:cNvPr id="21" name="Shape 19"/>
          <p:cNvSpPr/>
          <p:nvPr/>
        </p:nvSpPr>
        <p:spPr>
          <a:xfrm>
            <a:off x="548640" y="4645152"/>
            <a:ext cx="2377440" cy="621792"/>
          </a:xfrm>
          <a:prstGeom prst="rect">
            <a:avLst/>
          </a:prstGeom>
          <a:solidFill>
            <a:srgbClr val="E37B27"/>
          </a:solidFill>
          <a:ln/>
        </p:spPr>
      </p:sp>
      <p:sp>
        <p:nvSpPr>
          <p:cNvPr id="22" name="Text 20"/>
          <p:cNvSpPr/>
          <p:nvPr/>
        </p:nvSpPr>
        <p:spPr>
          <a:xfrm>
            <a:off x="548640" y="4645152"/>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IDE / Editor</a:t>
            </a:r>
            <a:endParaRPr lang="en-US" sz="1300" dirty="0"/>
          </a:p>
        </p:txBody>
      </p:sp>
      <p:sp>
        <p:nvSpPr>
          <p:cNvPr id="23" name="Text 21"/>
          <p:cNvSpPr/>
          <p:nvPr/>
        </p:nvSpPr>
        <p:spPr>
          <a:xfrm>
            <a:off x="3108960" y="4645152"/>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Visual Studio Code</a:t>
            </a:r>
            <a:endParaRPr lang="en-US" sz="1300" dirty="0"/>
          </a:p>
        </p:txBody>
      </p:sp>
      <p:sp>
        <p:nvSpPr>
          <p:cNvPr id="24" name="Shape 22"/>
          <p:cNvSpPr/>
          <p:nvPr/>
        </p:nvSpPr>
        <p:spPr>
          <a:xfrm>
            <a:off x="548640" y="5394960"/>
            <a:ext cx="10881360" cy="621792"/>
          </a:xfrm>
          <a:prstGeom prst="rect">
            <a:avLst/>
          </a:prstGeom>
          <a:solidFill>
            <a:srgbClr val="FFFFFF"/>
          </a:solidFill>
          <a:ln w="12700">
            <a:solidFill>
              <a:srgbClr val="E1E4E8"/>
            </a:solidFill>
            <a:prstDash val="solid"/>
          </a:ln>
        </p:spPr>
      </p:sp>
      <p:sp>
        <p:nvSpPr>
          <p:cNvPr id="25" name="Shape 23"/>
          <p:cNvSpPr/>
          <p:nvPr/>
        </p:nvSpPr>
        <p:spPr>
          <a:xfrm>
            <a:off x="548640" y="5394960"/>
            <a:ext cx="2377440" cy="621792"/>
          </a:xfrm>
          <a:prstGeom prst="rect">
            <a:avLst/>
          </a:prstGeom>
          <a:solidFill>
            <a:srgbClr val="E37B27"/>
          </a:solidFill>
          <a:ln/>
        </p:spPr>
      </p:sp>
      <p:sp>
        <p:nvSpPr>
          <p:cNvPr id="26" name="Text 24"/>
          <p:cNvSpPr/>
          <p:nvPr/>
        </p:nvSpPr>
        <p:spPr>
          <a:xfrm>
            <a:off x="548640" y="5394960"/>
            <a:ext cx="237744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Browser</a:t>
            </a:r>
            <a:endParaRPr lang="en-US" sz="1300" dirty="0"/>
          </a:p>
        </p:txBody>
      </p:sp>
      <p:sp>
        <p:nvSpPr>
          <p:cNvPr id="27" name="Text 25"/>
          <p:cNvSpPr/>
          <p:nvPr/>
        </p:nvSpPr>
        <p:spPr>
          <a:xfrm>
            <a:off x="3108960" y="5394960"/>
            <a:ext cx="8229600" cy="621792"/>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Google Chrome / Mozilla Firefox (for testing the app)</a:t>
            </a:r>
            <a:endParaRPr lang="en-US" sz="1300" dirty="0"/>
          </a:p>
        </p:txBody>
      </p:sp>
      <p:sp>
        <p:nvSpPr>
          <p:cNvPr id="28" name="Text 26"/>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684"/>
                </a:solidFill>
                <a:latin typeface="Calibri" pitchFamily="34" charset="0"/>
                <a:ea typeface="Calibri" pitchFamily="34" charset="-122"/>
                <a:cs typeface="Calibri" pitchFamily="34" charset="-120"/>
              </a:rPr>
              <a:t>Inventory &amp; Warehouse Management System</a:t>
            </a:r>
            <a:endParaRPr lang="en-US" sz="900" dirty="0"/>
          </a:p>
        </p:txBody>
      </p:sp>
      <p:sp>
        <p:nvSpPr>
          <p:cNvPr id="29" name="Text 27"/>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D3D"/>
        </a:solidFill>
      </p:bgPr>
    </p:bg>
    <p:spTree>
      <p:nvGrpSpPr>
        <p:cNvPr id="1" name=""/>
        <p:cNvGrpSpPr/>
        <p:nvPr/>
      </p:nvGrpSpPr>
      <p:grpSpPr>
        <a:xfrm>
          <a:off x="0" y="0"/>
          <a:ext cx="0" cy="0"/>
          <a:chOff x="0" y="0"/>
          <a:chExt cx="0" cy="0"/>
        </a:xfrm>
      </p:grpSpPr>
      <p:sp>
        <p:nvSpPr>
          <p:cNvPr id="2" name="Text 0"/>
          <p:cNvSpPr/>
          <p:nvPr/>
        </p:nvSpPr>
        <p:spPr>
          <a:xfrm>
            <a:off x="640080" y="822960"/>
            <a:ext cx="5486400" cy="320040"/>
          </a:xfrm>
          <a:prstGeom prst="rect">
            <a:avLst/>
          </a:prstGeom>
          <a:noFill/>
          <a:ln/>
        </p:spPr>
        <p:txBody>
          <a:bodyPr wrap="square" lIns="0" tIns="0" rIns="0" bIns="0" rtlCol="0" anchor="ctr"/>
          <a:lstStyle/>
          <a:p>
            <a:pPr indent="0" marL="0">
              <a:buNone/>
            </a:pPr>
            <a:r>
              <a:rPr lang="en-US" sz="1200" b="1" spc="200" kern="0" dirty="0">
                <a:solidFill>
                  <a:srgbClr val="E37B27"/>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640080" y="1143000"/>
            <a:ext cx="86868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Bringing Order to the Warehouse Floor</a:t>
            </a:r>
            <a:endParaRPr lang="en-US" sz="3000" dirty="0"/>
          </a:p>
        </p:txBody>
      </p:sp>
      <p:sp>
        <p:nvSpPr>
          <p:cNvPr id="4" name="Text 2"/>
          <p:cNvSpPr/>
          <p:nvPr/>
        </p:nvSpPr>
        <p:spPr>
          <a:xfrm>
            <a:off x="640080" y="2148840"/>
            <a:ext cx="6675120" cy="2011680"/>
          </a:xfrm>
          <a:prstGeom prst="rect">
            <a:avLst/>
          </a:prstGeom>
          <a:noFill/>
          <a:ln/>
        </p:spPr>
        <p:txBody>
          <a:bodyPr wrap="square" lIns="0" tIns="0" rIns="0" bIns="0" rtlCol="0" anchor="ctr"/>
          <a:lstStyle/>
          <a:p>
            <a:pPr indent="0" marL="0">
              <a:lnSpc>
                <a:spcPct val="130000"/>
              </a:lnSpc>
              <a:buNone/>
            </a:pPr>
            <a:r>
              <a:rPr lang="en-US" sz="1450" dirty="0">
                <a:solidFill>
                  <a:srgbClr val="D6DCE3"/>
                </a:solidFill>
                <a:latin typeface="Calibri" pitchFamily="34" charset="0"/>
                <a:ea typeface="Calibri" pitchFamily="34" charset="-122"/>
                <a:cs typeface="Calibri" pitchFamily="34" charset="-120"/>
              </a:rPr>
              <a:t>The Inventory &amp; Warehouse Management System shows how core DBMS concepts — ER modelling, normalization and SQL — can solve a real business problem. By replacing manual registers with a structured relational database, the system reduces human error, gives managers real-time stock visibility, and makes report generation instant instead of taking hours.</a:t>
            </a:r>
            <a:endParaRPr lang="en-US" sz="1450" dirty="0"/>
          </a:p>
        </p:txBody>
      </p:sp>
      <p:sp>
        <p:nvSpPr>
          <p:cNvPr id="5" name="Text 3"/>
          <p:cNvSpPr/>
          <p:nvPr/>
        </p:nvSpPr>
        <p:spPr>
          <a:xfrm>
            <a:off x="640080" y="4343400"/>
            <a:ext cx="6675120" cy="822960"/>
          </a:xfrm>
          <a:prstGeom prst="rect">
            <a:avLst/>
          </a:prstGeom>
          <a:noFill/>
          <a:ln/>
        </p:spPr>
        <p:txBody>
          <a:bodyPr wrap="square" lIns="0" tIns="0" rIns="0" bIns="0" rtlCol="0" anchor="ctr"/>
          <a:lstStyle/>
          <a:p>
            <a:pPr indent="0" marL="0">
              <a:lnSpc>
                <a:spcPct val="125000"/>
              </a:lnSpc>
              <a:buNone/>
            </a:pPr>
            <a:r>
              <a:rPr lang="en-US" sz="1350" i="1" dirty="0">
                <a:solidFill>
                  <a:srgbClr val="E37B27"/>
                </a:solidFill>
                <a:latin typeface="Calibri" pitchFamily="34" charset="0"/>
                <a:ea typeface="Calibri" pitchFamily="34" charset="-122"/>
                <a:cs typeface="Calibri" pitchFamily="34" charset="-120"/>
              </a:rPr>
              <a:t>Going forward, the system can be extended with barcode scanning, mobile access and predictive stock alerts using historical sales data.</a:t>
            </a:r>
            <a:endParaRPr lang="en-US" sz="1350" dirty="0"/>
          </a:p>
        </p:txBody>
      </p:sp>
      <p:sp>
        <p:nvSpPr>
          <p:cNvPr id="6" name="Shape 4"/>
          <p:cNvSpPr/>
          <p:nvPr/>
        </p:nvSpPr>
        <p:spPr>
          <a:xfrm>
            <a:off x="7863840" y="2148840"/>
            <a:ext cx="3749040" cy="3017520"/>
          </a:xfrm>
          <a:prstGeom prst="rect">
            <a:avLst/>
          </a:prstGeom>
          <a:solidFill>
            <a:srgbClr val="263548"/>
          </a:solidFill>
          <a:ln/>
        </p:spPr>
      </p:sp>
      <p:sp>
        <p:nvSpPr>
          <p:cNvPr id="7" name="Text 5"/>
          <p:cNvSpPr/>
          <p:nvPr/>
        </p:nvSpPr>
        <p:spPr>
          <a:xfrm>
            <a:off x="8138160" y="2377440"/>
            <a:ext cx="3200400" cy="274320"/>
          </a:xfrm>
          <a:prstGeom prst="rect">
            <a:avLst/>
          </a:prstGeom>
          <a:noFill/>
          <a:ln/>
        </p:spPr>
        <p:txBody>
          <a:bodyPr wrap="square" lIns="0" tIns="0" rIns="0" bIns="0" rtlCol="0" anchor="ctr"/>
          <a:lstStyle/>
          <a:p>
            <a:pPr indent="0" marL="0">
              <a:buNone/>
            </a:pPr>
            <a:r>
              <a:rPr lang="en-US" sz="1100" b="1" spc="150" kern="0" dirty="0">
                <a:solidFill>
                  <a:srgbClr val="E37B27"/>
                </a:solidFill>
                <a:latin typeface="Calibri" pitchFamily="34" charset="0"/>
                <a:ea typeface="Calibri" pitchFamily="34" charset="-122"/>
                <a:cs typeface="Calibri" pitchFamily="34" charset="-120"/>
              </a:rPr>
              <a:t>KEY TAKEAWAYS</a:t>
            </a:r>
            <a:endParaRPr lang="en-US" sz="1100" dirty="0"/>
          </a:p>
        </p:txBody>
      </p:sp>
      <p:sp>
        <p:nvSpPr>
          <p:cNvPr id="8" name="Shape 6"/>
          <p:cNvSpPr/>
          <p:nvPr/>
        </p:nvSpPr>
        <p:spPr>
          <a:xfrm>
            <a:off x="8138160" y="2834640"/>
            <a:ext cx="109728" cy="109728"/>
          </a:xfrm>
          <a:prstGeom prst="ellipse">
            <a:avLst/>
          </a:prstGeom>
          <a:solidFill>
            <a:srgbClr val="E37B27"/>
          </a:solidFill>
          <a:ln/>
        </p:spPr>
      </p:sp>
      <p:sp>
        <p:nvSpPr>
          <p:cNvPr id="9" name="Text 7"/>
          <p:cNvSpPr/>
          <p:nvPr/>
        </p:nvSpPr>
        <p:spPr>
          <a:xfrm>
            <a:off x="8394192" y="2715768"/>
            <a:ext cx="2926080" cy="5029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Zero duplicate / mismatched stock data</a:t>
            </a:r>
            <a:endParaRPr lang="en-US" sz="1250" dirty="0"/>
          </a:p>
        </p:txBody>
      </p:sp>
      <p:sp>
        <p:nvSpPr>
          <p:cNvPr id="10" name="Shape 8"/>
          <p:cNvSpPr/>
          <p:nvPr/>
        </p:nvSpPr>
        <p:spPr>
          <a:xfrm>
            <a:off x="8138160" y="3456432"/>
            <a:ext cx="109728" cy="109728"/>
          </a:xfrm>
          <a:prstGeom prst="ellipse">
            <a:avLst/>
          </a:prstGeom>
          <a:solidFill>
            <a:srgbClr val="E37B27"/>
          </a:solidFill>
          <a:ln/>
        </p:spPr>
      </p:sp>
      <p:sp>
        <p:nvSpPr>
          <p:cNvPr id="11" name="Text 9"/>
          <p:cNvSpPr/>
          <p:nvPr/>
        </p:nvSpPr>
        <p:spPr>
          <a:xfrm>
            <a:off x="8394192" y="3337560"/>
            <a:ext cx="2926080" cy="5029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Instant reports via SQL queries</a:t>
            </a:r>
            <a:endParaRPr lang="en-US" sz="1250" dirty="0"/>
          </a:p>
        </p:txBody>
      </p:sp>
      <p:sp>
        <p:nvSpPr>
          <p:cNvPr id="12" name="Shape 10"/>
          <p:cNvSpPr/>
          <p:nvPr/>
        </p:nvSpPr>
        <p:spPr>
          <a:xfrm>
            <a:off x="8138160" y="4078224"/>
            <a:ext cx="109728" cy="109728"/>
          </a:xfrm>
          <a:prstGeom prst="ellipse">
            <a:avLst/>
          </a:prstGeom>
          <a:solidFill>
            <a:srgbClr val="E37B27"/>
          </a:solidFill>
          <a:ln/>
        </p:spPr>
      </p:sp>
      <p:sp>
        <p:nvSpPr>
          <p:cNvPr id="13" name="Text 11"/>
          <p:cNvSpPr/>
          <p:nvPr/>
        </p:nvSpPr>
        <p:spPr>
          <a:xfrm>
            <a:off x="8394192" y="3959352"/>
            <a:ext cx="2926080" cy="5029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Clear structure: 3NF normalized schema</a:t>
            </a:r>
            <a:endParaRPr lang="en-US" sz="1250" dirty="0"/>
          </a:p>
        </p:txBody>
      </p:sp>
      <p:sp>
        <p:nvSpPr>
          <p:cNvPr id="14" name="Shape 12"/>
          <p:cNvSpPr/>
          <p:nvPr/>
        </p:nvSpPr>
        <p:spPr>
          <a:xfrm>
            <a:off x="8138160" y="4700016"/>
            <a:ext cx="109728" cy="109728"/>
          </a:xfrm>
          <a:prstGeom prst="ellipse">
            <a:avLst/>
          </a:prstGeom>
          <a:solidFill>
            <a:srgbClr val="E37B27"/>
          </a:solidFill>
          <a:ln/>
        </p:spPr>
      </p:sp>
      <p:sp>
        <p:nvSpPr>
          <p:cNvPr id="15" name="Text 13"/>
          <p:cNvSpPr/>
          <p:nvPr/>
        </p:nvSpPr>
        <p:spPr>
          <a:xfrm>
            <a:off x="8394192" y="4581144"/>
            <a:ext cx="2926080" cy="5029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Scalable to more warehouses &amp; products</a:t>
            </a:r>
            <a:endParaRPr lang="en-US" sz="1250" dirty="0"/>
          </a:p>
        </p:txBody>
      </p:sp>
      <p:sp>
        <p:nvSpPr>
          <p:cNvPr id="16" name="Shape 14"/>
          <p:cNvSpPr/>
          <p:nvPr/>
        </p:nvSpPr>
        <p:spPr>
          <a:xfrm>
            <a:off x="640080" y="6263640"/>
            <a:ext cx="10881360" cy="0"/>
          </a:xfrm>
          <a:prstGeom prst="line">
            <a:avLst/>
          </a:prstGeom>
          <a:noFill/>
          <a:ln w="12700">
            <a:solidFill>
              <a:srgbClr val="3D4E62"/>
            </a:solidFill>
            <a:prstDash val="solid"/>
          </a:ln>
        </p:spPr>
      </p:sp>
      <p:sp>
        <p:nvSpPr>
          <p:cNvPr id="17" name="Text 15"/>
          <p:cNvSpPr/>
          <p:nvPr/>
        </p:nvSpPr>
        <p:spPr>
          <a:xfrm>
            <a:off x="640080" y="6355080"/>
            <a:ext cx="10881360" cy="320040"/>
          </a:xfrm>
          <a:prstGeom prst="rect">
            <a:avLst/>
          </a:prstGeom>
          <a:noFill/>
          <a:ln/>
        </p:spPr>
        <p:txBody>
          <a:bodyPr wrap="square" lIns="0" tIns="0" rIns="0" bIns="0" rtlCol="0" anchor="ctr"/>
          <a:lstStyle/>
          <a:p>
            <a:pPr algn="ctr" indent="0" marL="0">
              <a:buNone/>
            </a:pPr>
            <a:r>
              <a:rPr lang="en-US" sz="1150" dirty="0">
                <a:solidFill>
                  <a:srgbClr val="9FB0C1"/>
                </a:solidFill>
                <a:latin typeface="Calibri" pitchFamily="34" charset="0"/>
                <a:ea typeface="Calibri" pitchFamily="34" charset="-122"/>
                <a:cs typeface="Calibri" pitchFamily="34" charset="-120"/>
              </a:rPr>
              <a:t>Varalakshmi K (2520030578)   •   Himesh A (2520030317)   •   Ishwak (2520030458)</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2026-08-17T07:04:07Z</dcterms:created>
  <dcterms:modified xsi:type="dcterms:W3CDTF">2026-08-17T07:04:07Z</dcterms:modified>
</cp:coreProperties>
</file>